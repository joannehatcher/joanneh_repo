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96012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84F768-C856-40B4-BEAA-7A1A2FE6DD51}" v="62" dt="2026-10-01T04:16:41.5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52653"/>
            <a:ext cx="87579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5252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9825" y="1426164"/>
            <a:ext cx="4821548" cy="481878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339017" y="6373638"/>
            <a:ext cx="611505" cy="241935"/>
          </a:xfrm>
          <a:custGeom>
            <a:avLst/>
            <a:gdLst/>
            <a:ahLst/>
            <a:cxnLst/>
            <a:rect l="l" t="t" r="r" b="b"/>
            <a:pathLst>
              <a:path w="611504" h="241934">
                <a:moveTo>
                  <a:pt x="118848" y="226030"/>
                </a:moveTo>
                <a:lnTo>
                  <a:pt x="0" y="226030"/>
                </a:lnTo>
                <a:lnTo>
                  <a:pt x="0" y="241407"/>
                </a:lnTo>
                <a:lnTo>
                  <a:pt x="118848" y="241407"/>
                </a:lnTo>
                <a:lnTo>
                  <a:pt x="118848" y="226030"/>
                </a:lnTo>
                <a:close/>
              </a:path>
              <a:path w="611504" h="241934">
                <a:moveTo>
                  <a:pt x="118848" y="193741"/>
                </a:moveTo>
                <a:lnTo>
                  <a:pt x="0" y="193741"/>
                </a:lnTo>
                <a:lnTo>
                  <a:pt x="0" y="209117"/>
                </a:lnTo>
                <a:lnTo>
                  <a:pt x="118848" y="209117"/>
                </a:lnTo>
                <a:lnTo>
                  <a:pt x="118848" y="193741"/>
                </a:lnTo>
                <a:close/>
              </a:path>
              <a:path w="611504" h="241934">
                <a:moveTo>
                  <a:pt x="84891" y="161451"/>
                </a:moveTo>
                <a:lnTo>
                  <a:pt x="33957" y="161451"/>
                </a:lnTo>
                <a:lnTo>
                  <a:pt x="33957" y="176827"/>
                </a:lnTo>
                <a:lnTo>
                  <a:pt x="84891" y="176827"/>
                </a:lnTo>
                <a:lnTo>
                  <a:pt x="84891" y="161451"/>
                </a:lnTo>
                <a:close/>
              </a:path>
              <a:path w="611504" h="241934">
                <a:moveTo>
                  <a:pt x="84891" y="129161"/>
                </a:moveTo>
                <a:lnTo>
                  <a:pt x="33956" y="129161"/>
                </a:lnTo>
                <a:lnTo>
                  <a:pt x="33956" y="144537"/>
                </a:lnTo>
                <a:lnTo>
                  <a:pt x="84891" y="144537"/>
                </a:lnTo>
                <a:lnTo>
                  <a:pt x="84891" y="129161"/>
                </a:lnTo>
                <a:close/>
              </a:path>
              <a:path w="611504" h="241934">
                <a:moveTo>
                  <a:pt x="84891" y="96869"/>
                </a:moveTo>
                <a:lnTo>
                  <a:pt x="33956" y="96869"/>
                </a:lnTo>
                <a:lnTo>
                  <a:pt x="33956" y="112246"/>
                </a:lnTo>
                <a:lnTo>
                  <a:pt x="84891" y="112246"/>
                </a:lnTo>
                <a:lnTo>
                  <a:pt x="84891" y="96869"/>
                </a:lnTo>
                <a:close/>
              </a:path>
              <a:path w="611504" h="241934">
                <a:moveTo>
                  <a:pt x="84891" y="64579"/>
                </a:moveTo>
                <a:lnTo>
                  <a:pt x="33956" y="64579"/>
                </a:lnTo>
                <a:lnTo>
                  <a:pt x="33956" y="79956"/>
                </a:lnTo>
                <a:lnTo>
                  <a:pt x="84891" y="79956"/>
                </a:lnTo>
                <a:lnTo>
                  <a:pt x="84891" y="64579"/>
                </a:lnTo>
                <a:close/>
              </a:path>
              <a:path w="611504" h="241934">
                <a:moveTo>
                  <a:pt x="118848" y="32289"/>
                </a:moveTo>
                <a:lnTo>
                  <a:pt x="0" y="32289"/>
                </a:lnTo>
                <a:lnTo>
                  <a:pt x="0" y="47666"/>
                </a:lnTo>
                <a:lnTo>
                  <a:pt x="118848" y="47666"/>
                </a:lnTo>
                <a:lnTo>
                  <a:pt x="118848" y="32289"/>
                </a:lnTo>
                <a:close/>
              </a:path>
              <a:path w="611504" h="241934">
                <a:moveTo>
                  <a:pt x="118847" y="0"/>
                </a:moveTo>
                <a:lnTo>
                  <a:pt x="0" y="0"/>
                </a:lnTo>
                <a:lnTo>
                  <a:pt x="0" y="15376"/>
                </a:lnTo>
                <a:lnTo>
                  <a:pt x="118847" y="15376"/>
                </a:lnTo>
                <a:lnTo>
                  <a:pt x="118847" y="0"/>
                </a:lnTo>
                <a:close/>
              </a:path>
              <a:path w="611504" h="241934">
                <a:moveTo>
                  <a:pt x="302818" y="226030"/>
                </a:moveTo>
                <a:lnTo>
                  <a:pt x="135826" y="226030"/>
                </a:lnTo>
                <a:lnTo>
                  <a:pt x="135826" y="241407"/>
                </a:lnTo>
                <a:lnTo>
                  <a:pt x="260848" y="241407"/>
                </a:lnTo>
                <a:lnTo>
                  <a:pt x="272565" y="240352"/>
                </a:lnTo>
                <a:lnTo>
                  <a:pt x="283589" y="237311"/>
                </a:lnTo>
                <a:lnTo>
                  <a:pt x="293735" y="232475"/>
                </a:lnTo>
                <a:lnTo>
                  <a:pt x="302818" y="226030"/>
                </a:lnTo>
                <a:close/>
              </a:path>
              <a:path w="611504" h="241934">
                <a:moveTo>
                  <a:pt x="323423" y="193741"/>
                </a:moveTo>
                <a:lnTo>
                  <a:pt x="135826" y="193741"/>
                </a:lnTo>
                <a:lnTo>
                  <a:pt x="135826" y="209117"/>
                </a:lnTo>
                <a:lnTo>
                  <a:pt x="316979" y="209117"/>
                </a:lnTo>
                <a:lnTo>
                  <a:pt x="319758" y="204350"/>
                </a:lnTo>
                <a:lnTo>
                  <a:pt x="321944" y="199184"/>
                </a:lnTo>
                <a:lnTo>
                  <a:pt x="323423" y="193741"/>
                </a:lnTo>
                <a:close/>
              </a:path>
              <a:path w="611504" h="241934">
                <a:moveTo>
                  <a:pt x="220718" y="161451"/>
                </a:moveTo>
                <a:lnTo>
                  <a:pt x="169783" y="161451"/>
                </a:lnTo>
                <a:lnTo>
                  <a:pt x="169783" y="176827"/>
                </a:lnTo>
                <a:lnTo>
                  <a:pt x="220718" y="176827"/>
                </a:lnTo>
                <a:lnTo>
                  <a:pt x="220718" y="161451"/>
                </a:lnTo>
                <a:close/>
              </a:path>
              <a:path w="611504" h="241934">
                <a:moveTo>
                  <a:pt x="316966" y="96869"/>
                </a:moveTo>
                <a:lnTo>
                  <a:pt x="169783" y="96869"/>
                </a:lnTo>
                <a:lnTo>
                  <a:pt x="169783" y="112246"/>
                </a:lnTo>
                <a:lnTo>
                  <a:pt x="304515" y="112246"/>
                </a:lnTo>
                <a:lnTo>
                  <a:pt x="309403" y="107786"/>
                </a:lnTo>
                <a:lnTo>
                  <a:pt x="313622" y="102623"/>
                </a:lnTo>
                <a:lnTo>
                  <a:pt x="316966" y="96869"/>
                </a:lnTo>
                <a:close/>
              </a:path>
              <a:path w="611504" h="241934">
                <a:moveTo>
                  <a:pt x="316979" y="32289"/>
                </a:moveTo>
                <a:lnTo>
                  <a:pt x="135826" y="32289"/>
                </a:lnTo>
                <a:lnTo>
                  <a:pt x="135826" y="47666"/>
                </a:lnTo>
                <a:lnTo>
                  <a:pt x="323423" y="47666"/>
                </a:lnTo>
                <a:lnTo>
                  <a:pt x="321944" y="42220"/>
                </a:lnTo>
                <a:lnTo>
                  <a:pt x="319757" y="37056"/>
                </a:lnTo>
                <a:lnTo>
                  <a:pt x="316979" y="32289"/>
                </a:lnTo>
                <a:close/>
              </a:path>
              <a:path w="611504" h="241934">
                <a:moveTo>
                  <a:pt x="220717" y="64579"/>
                </a:moveTo>
                <a:lnTo>
                  <a:pt x="169782" y="64579"/>
                </a:lnTo>
                <a:lnTo>
                  <a:pt x="169782" y="79956"/>
                </a:lnTo>
                <a:lnTo>
                  <a:pt x="220717" y="79956"/>
                </a:lnTo>
                <a:lnTo>
                  <a:pt x="220717" y="64579"/>
                </a:lnTo>
                <a:close/>
              </a:path>
              <a:path w="611504" h="241934">
                <a:moveTo>
                  <a:pt x="325674" y="64579"/>
                </a:moveTo>
                <a:lnTo>
                  <a:pt x="268565" y="64579"/>
                </a:lnTo>
                <a:lnTo>
                  <a:pt x="268565" y="79956"/>
                </a:lnTo>
                <a:lnTo>
                  <a:pt x="323796" y="79956"/>
                </a:lnTo>
                <a:lnTo>
                  <a:pt x="324992" y="75022"/>
                </a:lnTo>
                <a:lnTo>
                  <a:pt x="325674" y="69884"/>
                </a:lnTo>
                <a:lnTo>
                  <a:pt x="325674" y="64579"/>
                </a:lnTo>
                <a:close/>
              </a:path>
              <a:path w="611504" h="241934">
                <a:moveTo>
                  <a:pt x="323796" y="161451"/>
                </a:moveTo>
                <a:lnTo>
                  <a:pt x="268565" y="161451"/>
                </a:lnTo>
                <a:lnTo>
                  <a:pt x="268565" y="176827"/>
                </a:lnTo>
                <a:lnTo>
                  <a:pt x="325674" y="176827"/>
                </a:lnTo>
                <a:lnTo>
                  <a:pt x="325674" y="171522"/>
                </a:lnTo>
                <a:lnTo>
                  <a:pt x="324992" y="166386"/>
                </a:lnTo>
                <a:lnTo>
                  <a:pt x="323796" y="161451"/>
                </a:lnTo>
                <a:close/>
              </a:path>
              <a:path w="611504" h="241934">
                <a:moveTo>
                  <a:pt x="304515" y="129161"/>
                </a:moveTo>
                <a:lnTo>
                  <a:pt x="169783" y="129161"/>
                </a:lnTo>
                <a:lnTo>
                  <a:pt x="169783" y="144537"/>
                </a:lnTo>
                <a:lnTo>
                  <a:pt x="316966" y="144537"/>
                </a:lnTo>
                <a:lnTo>
                  <a:pt x="313622" y="138786"/>
                </a:lnTo>
                <a:lnTo>
                  <a:pt x="309403" y="133620"/>
                </a:lnTo>
                <a:lnTo>
                  <a:pt x="304515" y="129161"/>
                </a:lnTo>
                <a:close/>
              </a:path>
              <a:path w="611504" h="241934">
                <a:moveTo>
                  <a:pt x="260848" y="0"/>
                </a:moveTo>
                <a:lnTo>
                  <a:pt x="135826" y="0"/>
                </a:lnTo>
                <a:lnTo>
                  <a:pt x="135826" y="15376"/>
                </a:lnTo>
                <a:lnTo>
                  <a:pt x="302817" y="15376"/>
                </a:lnTo>
                <a:lnTo>
                  <a:pt x="293734" y="8935"/>
                </a:lnTo>
                <a:lnTo>
                  <a:pt x="283588" y="4098"/>
                </a:lnTo>
                <a:lnTo>
                  <a:pt x="272564" y="1056"/>
                </a:lnTo>
                <a:lnTo>
                  <a:pt x="260848" y="0"/>
                </a:lnTo>
                <a:close/>
              </a:path>
              <a:path w="611504" h="241934">
                <a:moveTo>
                  <a:pt x="424457" y="226030"/>
                </a:moveTo>
                <a:lnTo>
                  <a:pt x="339566" y="226030"/>
                </a:lnTo>
                <a:lnTo>
                  <a:pt x="339566" y="241407"/>
                </a:lnTo>
                <a:lnTo>
                  <a:pt x="424457" y="241407"/>
                </a:lnTo>
                <a:lnTo>
                  <a:pt x="424457" y="226030"/>
                </a:lnTo>
                <a:close/>
              </a:path>
              <a:path w="611504" h="241934">
                <a:moveTo>
                  <a:pt x="424457" y="193741"/>
                </a:moveTo>
                <a:lnTo>
                  <a:pt x="339566" y="193741"/>
                </a:lnTo>
                <a:lnTo>
                  <a:pt x="339566" y="209117"/>
                </a:lnTo>
                <a:lnTo>
                  <a:pt x="424457" y="209117"/>
                </a:lnTo>
                <a:lnTo>
                  <a:pt x="424457" y="193741"/>
                </a:lnTo>
                <a:close/>
              </a:path>
              <a:path w="611504" h="241934">
                <a:moveTo>
                  <a:pt x="424457" y="161451"/>
                </a:moveTo>
                <a:lnTo>
                  <a:pt x="373522" y="161451"/>
                </a:lnTo>
                <a:lnTo>
                  <a:pt x="373522" y="176827"/>
                </a:lnTo>
                <a:lnTo>
                  <a:pt x="424457" y="176827"/>
                </a:lnTo>
                <a:lnTo>
                  <a:pt x="424457" y="161451"/>
                </a:lnTo>
                <a:close/>
              </a:path>
              <a:path w="611504" h="241934">
                <a:moveTo>
                  <a:pt x="424457" y="129161"/>
                </a:moveTo>
                <a:lnTo>
                  <a:pt x="373522" y="129161"/>
                </a:lnTo>
                <a:lnTo>
                  <a:pt x="373522" y="144537"/>
                </a:lnTo>
                <a:lnTo>
                  <a:pt x="424457" y="144537"/>
                </a:lnTo>
                <a:lnTo>
                  <a:pt x="424457" y="129161"/>
                </a:lnTo>
                <a:close/>
              </a:path>
              <a:path w="611504" h="241934">
                <a:moveTo>
                  <a:pt x="611218" y="226030"/>
                </a:moveTo>
                <a:lnTo>
                  <a:pt x="526327" y="226030"/>
                </a:lnTo>
                <a:lnTo>
                  <a:pt x="526327" y="241407"/>
                </a:lnTo>
                <a:lnTo>
                  <a:pt x="611218" y="241407"/>
                </a:lnTo>
                <a:lnTo>
                  <a:pt x="611218" y="226030"/>
                </a:lnTo>
                <a:close/>
              </a:path>
              <a:path w="611504" h="241934">
                <a:moveTo>
                  <a:pt x="611218" y="193741"/>
                </a:moveTo>
                <a:lnTo>
                  <a:pt x="526327" y="193741"/>
                </a:lnTo>
                <a:lnTo>
                  <a:pt x="526327" y="209117"/>
                </a:lnTo>
                <a:lnTo>
                  <a:pt x="611218" y="209117"/>
                </a:lnTo>
                <a:lnTo>
                  <a:pt x="611218" y="193741"/>
                </a:lnTo>
                <a:close/>
              </a:path>
              <a:path w="611504" h="241934">
                <a:moveTo>
                  <a:pt x="577261" y="161451"/>
                </a:moveTo>
                <a:lnTo>
                  <a:pt x="526326" y="161451"/>
                </a:lnTo>
                <a:lnTo>
                  <a:pt x="526326" y="176827"/>
                </a:lnTo>
                <a:lnTo>
                  <a:pt x="577261" y="176827"/>
                </a:lnTo>
                <a:lnTo>
                  <a:pt x="577261" y="161451"/>
                </a:lnTo>
                <a:close/>
              </a:path>
              <a:path w="611504" h="241934">
                <a:moveTo>
                  <a:pt x="577261" y="129161"/>
                </a:moveTo>
                <a:lnTo>
                  <a:pt x="526326" y="129161"/>
                </a:lnTo>
                <a:lnTo>
                  <a:pt x="526326" y="144537"/>
                </a:lnTo>
                <a:lnTo>
                  <a:pt x="577261" y="144537"/>
                </a:lnTo>
                <a:lnTo>
                  <a:pt x="577261" y="129161"/>
                </a:lnTo>
                <a:close/>
              </a:path>
              <a:path w="611504" h="241934">
                <a:moveTo>
                  <a:pt x="577261" y="96869"/>
                </a:moveTo>
                <a:lnTo>
                  <a:pt x="481784" y="96869"/>
                </a:lnTo>
                <a:lnTo>
                  <a:pt x="476420" y="112246"/>
                </a:lnTo>
                <a:lnTo>
                  <a:pt x="521130" y="112246"/>
                </a:lnTo>
                <a:lnTo>
                  <a:pt x="526313" y="97613"/>
                </a:lnTo>
                <a:lnTo>
                  <a:pt x="577261" y="97613"/>
                </a:lnTo>
                <a:lnTo>
                  <a:pt x="577261" y="96869"/>
                </a:lnTo>
                <a:close/>
              </a:path>
              <a:path w="611504" h="241934">
                <a:moveTo>
                  <a:pt x="577261" y="97613"/>
                </a:moveTo>
                <a:lnTo>
                  <a:pt x="526313" y="97613"/>
                </a:lnTo>
                <a:lnTo>
                  <a:pt x="526313" y="112246"/>
                </a:lnTo>
                <a:lnTo>
                  <a:pt x="577261" y="112246"/>
                </a:lnTo>
                <a:lnTo>
                  <a:pt x="577261" y="97613"/>
                </a:lnTo>
                <a:close/>
              </a:path>
              <a:path w="611504" h="241934">
                <a:moveTo>
                  <a:pt x="577261" y="64579"/>
                </a:moveTo>
                <a:lnTo>
                  <a:pt x="493038" y="64579"/>
                </a:lnTo>
                <a:lnTo>
                  <a:pt x="487675" y="79956"/>
                </a:lnTo>
                <a:lnTo>
                  <a:pt x="577261" y="79956"/>
                </a:lnTo>
                <a:lnTo>
                  <a:pt x="577261" y="64579"/>
                </a:lnTo>
                <a:close/>
              </a:path>
              <a:path w="611504" h="241934">
                <a:moveTo>
                  <a:pt x="611217" y="0"/>
                </a:moveTo>
                <a:lnTo>
                  <a:pt x="515522" y="0"/>
                </a:lnTo>
                <a:lnTo>
                  <a:pt x="510171" y="15376"/>
                </a:lnTo>
                <a:lnTo>
                  <a:pt x="611217" y="15376"/>
                </a:lnTo>
                <a:lnTo>
                  <a:pt x="611217" y="0"/>
                </a:lnTo>
                <a:close/>
              </a:path>
              <a:path w="611504" h="241934">
                <a:moveTo>
                  <a:pt x="480807" y="226030"/>
                </a:moveTo>
                <a:lnTo>
                  <a:pt x="469977" y="226030"/>
                </a:lnTo>
                <a:lnTo>
                  <a:pt x="475392" y="241407"/>
                </a:lnTo>
                <a:lnTo>
                  <a:pt x="480807" y="226030"/>
                </a:lnTo>
                <a:close/>
              </a:path>
              <a:path w="611504" h="241934">
                <a:moveTo>
                  <a:pt x="492267" y="193741"/>
                </a:moveTo>
                <a:lnTo>
                  <a:pt x="458542" y="193741"/>
                </a:lnTo>
                <a:lnTo>
                  <a:pt x="463983" y="209117"/>
                </a:lnTo>
                <a:lnTo>
                  <a:pt x="486813" y="209117"/>
                </a:lnTo>
                <a:lnTo>
                  <a:pt x="492267" y="193741"/>
                </a:lnTo>
                <a:close/>
              </a:path>
              <a:path w="611504" h="241934">
                <a:moveTo>
                  <a:pt x="503714" y="161451"/>
                </a:moveTo>
                <a:lnTo>
                  <a:pt x="447094" y="161451"/>
                </a:lnTo>
                <a:lnTo>
                  <a:pt x="452548" y="176827"/>
                </a:lnTo>
                <a:lnTo>
                  <a:pt x="498261" y="176827"/>
                </a:lnTo>
                <a:lnTo>
                  <a:pt x="503714" y="161451"/>
                </a:lnTo>
                <a:close/>
              </a:path>
              <a:path w="611504" h="241934">
                <a:moveTo>
                  <a:pt x="515162" y="129161"/>
                </a:moveTo>
                <a:lnTo>
                  <a:pt x="435660" y="129161"/>
                </a:lnTo>
                <a:lnTo>
                  <a:pt x="441113" y="144537"/>
                </a:lnTo>
                <a:lnTo>
                  <a:pt x="509721" y="144537"/>
                </a:lnTo>
                <a:lnTo>
                  <a:pt x="515162" y="129161"/>
                </a:lnTo>
                <a:close/>
              </a:path>
              <a:path w="611504" h="241934">
                <a:moveTo>
                  <a:pt x="457770" y="64579"/>
                </a:moveTo>
                <a:lnTo>
                  <a:pt x="373535" y="64579"/>
                </a:lnTo>
                <a:lnTo>
                  <a:pt x="373535" y="79956"/>
                </a:lnTo>
                <a:lnTo>
                  <a:pt x="463121" y="79956"/>
                </a:lnTo>
                <a:lnTo>
                  <a:pt x="457770" y="64579"/>
                </a:lnTo>
                <a:close/>
              </a:path>
              <a:path w="611504" h="241934">
                <a:moveTo>
                  <a:pt x="611230" y="32289"/>
                </a:moveTo>
                <a:lnTo>
                  <a:pt x="504280" y="32289"/>
                </a:lnTo>
                <a:lnTo>
                  <a:pt x="498929" y="47666"/>
                </a:lnTo>
                <a:lnTo>
                  <a:pt x="611230" y="47666"/>
                </a:lnTo>
                <a:lnTo>
                  <a:pt x="611230" y="32289"/>
                </a:lnTo>
                <a:close/>
              </a:path>
              <a:path w="611504" h="241934">
                <a:moveTo>
                  <a:pt x="446515" y="32289"/>
                </a:moveTo>
                <a:lnTo>
                  <a:pt x="339578" y="32289"/>
                </a:lnTo>
                <a:lnTo>
                  <a:pt x="339578" y="47666"/>
                </a:lnTo>
                <a:lnTo>
                  <a:pt x="451866" y="47666"/>
                </a:lnTo>
                <a:lnTo>
                  <a:pt x="446515" y="32289"/>
                </a:lnTo>
                <a:close/>
              </a:path>
              <a:path w="611504" h="241934">
                <a:moveTo>
                  <a:pt x="435274" y="0"/>
                </a:moveTo>
                <a:lnTo>
                  <a:pt x="339578" y="0"/>
                </a:lnTo>
                <a:lnTo>
                  <a:pt x="339578" y="15376"/>
                </a:lnTo>
                <a:lnTo>
                  <a:pt x="440637" y="15376"/>
                </a:lnTo>
                <a:lnTo>
                  <a:pt x="435274" y="0"/>
                </a:lnTo>
                <a:close/>
              </a:path>
              <a:path w="611504" h="241934">
                <a:moveTo>
                  <a:pt x="469012" y="96869"/>
                </a:moveTo>
                <a:lnTo>
                  <a:pt x="373535" y="96869"/>
                </a:lnTo>
                <a:lnTo>
                  <a:pt x="373535" y="112246"/>
                </a:lnTo>
                <a:lnTo>
                  <a:pt x="424469" y="112246"/>
                </a:lnTo>
                <a:lnTo>
                  <a:pt x="424469" y="97651"/>
                </a:lnTo>
                <a:lnTo>
                  <a:pt x="469284" y="97651"/>
                </a:lnTo>
                <a:lnTo>
                  <a:pt x="469012" y="96869"/>
                </a:lnTo>
                <a:close/>
              </a:path>
              <a:path w="611504" h="241934">
                <a:moveTo>
                  <a:pt x="469284" y="97651"/>
                </a:moveTo>
                <a:lnTo>
                  <a:pt x="424469" y="97651"/>
                </a:lnTo>
                <a:lnTo>
                  <a:pt x="429653" y="112246"/>
                </a:lnTo>
                <a:lnTo>
                  <a:pt x="474375" y="112246"/>
                </a:lnTo>
                <a:lnTo>
                  <a:pt x="469284" y="97651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750" y="6375624"/>
            <a:ext cx="245246" cy="24197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251" y="6414559"/>
            <a:ext cx="317477" cy="14360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31545" y="6427647"/>
            <a:ext cx="138430" cy="130810"/>
          </a:xfrm>
          <a:custGeom>
            <a:avLst/>
            <a:gdLst/>
            <a:ahLst/>
            <a:cxnLst/>
            <a:rect l="l" t="t" r="r" b="b"/>
            <a:pathLst>
              <a:path w="138430" h="130809">
                <a:moveTo>
                  <a:pt x="34721" y="0"/>
                </a:moveTo>
                <a:lnTo>
                  <a:pt x="0" y="0"/>
                </a:lnTo>
                <a:lnTo>
                  <a:pt x="0" y="129324"/>
                </a:lnTo>
                <a:lnTo>
                  <a:pt x="34721" y="129324"/>
                </a:lnTo>
                <a:lnTo>
                  <a:pt x="34721" y="0"/>
                </a:lnTo>
                <a:close/>
              </a:path>
              <a:path w="138430" h="130809">
                <a:moveTo>
                  <a:pt x="138201" y="93268"/>
                </a:moveTo>
                <a:lnTo>
                  <a:pt x="96240" y="68199"/>
                </a:lnTo>
                <a:lnTo>
                  <a:pt x="91871" y="66967"/>
                </a:lnTo>
                <a:lnTo>
                  <a:pt x="86461" y="64528"/>
                </a:lnTo>
                <a:lnTo>
                  <a:pt x="85090" y="62725"/>
                </a:lnTo>
                <a:lnTo>
                  <a:pt x="85090" y="58534"/>
                </a:lnTo>
                <a:lnTo>
                  <a:pt x="85826" y="57073"/>
                </a:lnTo>
                <a:lnTo>
                  <a:pt x="88773" y="54965"/>
                </a:lnTo>
                <a:lnTo>
                  <a:pt x="90893" y="54444"/>
                </a:lnTo>
                <a:lnTo>
                  <a:pt x="97447" y="54444"/>
                </a:lnTo>
                <a:lnTo>
                  <a:pt x="100330" y="55308"/>
                </a:lnTo>
                <a:lnTo>
                  <a:pt x="104724" y="58724"/>
                </a:lnTo>
                <a:lnTo>
                  <a:pt x="106095" y="61112"/>
                </a:lnTo>
                <a:lnTo>
                  <a:pt x="106692" y="64262"/>
                </a:lnTo>
                <a:lnTo>
                  <a:pt x="138049" y="64262"/>
                </a:lnTo>
                <a:lnTo>
                  <a:pt x="111874" y="32372"/>
                </a:lnTo>
                <a:lnTo>
                  <a:pt x="94475" y="30010"/>
                </a:lnTo>
                <a:lnTo>
                  <a:pt x="85725" y="30010"/>
                </a:lnTo>
                <a:lnTo>
                  <a:pt x="53174" y="55499"/>
                </a:lnTo>
                <a:lnTo>
                  <a:pt x="53174" y="68046"/>
                </a:lnTo>
                <a:lnTo>
                  <a:pt x="88417" y="90690"/>
                </a:lnTo>
                <a:lnTo>
                  <a:pt x="94653" y="92113"/>
                </a:lnTo>
                <a:lnTo>
                  <a:pt x="99161" y="93383"/>
                </a:lnTo>
                <a:lnTo>
                  <a:pt x="104571" y="95745"/>
                </a:lnTo>
                <a:lnTo>
                  <a:pt x="105930" y="97548"/>
                </a:lnTo>
                <a:lnTo>
                  <a:pt x="105930" y="101815"/>
                </a:lnTo>
                <a:lnTo>
                  <a:pt x="105143" y="103352"/>
                </a:lnTo>
                <a:lnTo>
                  <a:pt x="101854" y="105676"/>
                </a:lnTo>
                <a:lnTo>
                  <a:pt x="99593" y="106273"/>
                </a:lnTo>
                <a:lnTo>
                  <a:pt x="93078" y="106273"/>
                </a:lnTo>
                <a:lnTo>
                  <a:pt x="90004" y="105410"/>
                </a:lnTo>
                <a:lnTo>
                  <a:pt x="85001" y="101892"/>
                </a:lnTo>
                <a:lnTo>
                  <a:pt x="83540" y="99453"/>
                </a:lnTo>
                <a:lnTo>
                  <a:pt x="83070" y="96304"/>
                </a:lnTo>
                <a:lnTo>
                  <a:pt x="49428" y="96304"/>
                </a:lnTo>
                <a:lnTo>
                  <a:pt x="72898" y="126098"/>
                </a:lnTo>
                <a:lnTo>
                  <a:pt x="79933" y="128943"/>
                </a:lnTo>
                <a:lnTo>
                  <a:pt x="87947" y="130441"/>
                </a:lnTo>
                <a:lnTo>
                  <a:pt x="105295" y="130441"/>
                </a:lnTo>
                <a:lnTo>
                  <a:pt x="138201" y="106083"/>
                </a:lnTo>
                <a:lnTo>
                  <a:pt x="138201" y="93268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37627" y="6427647"/>
            <a:ext cx="732790" cy="131445"/>
          </a:xfrm>
          <a:custGeom>
            <a:avLst/>
            <a:gdLst/>
            <a:ahLst/>
            <a:cxnLst/>
            <a:rect l="l" t="t" r="r" b="b"/>
            <a:pathLst>
              <a:path w="732789" h="131445">
                <a:moveTo>
                  <a:pt x="105740" y="7150"/>
                </a:moveTo>
                <a:lnTo>
                  <a:pt x="80949" y="7150"/>
                </a:lnTo>
                <a:lnTo>
                  <a:pt x="80949" y="91059"/>
                </a:lnTo>
                <a:lnTo>
                  <a:pt x="24790" y="7150"/>
                </a:lnTo>
                <a:lnTo>
                  <a:pt x="0" y="7150"/>
                </a:lnTo>
                <a:lnTo>
                  <a:pt x="0" y="129324"/>
                </a:lnTo>
                <a:lnTo>
                  <a:pt x="24790" y="129324"/>
                </a:lnTo>
                <a:lnTo>
                  <a:pt x="24790" y="45605"/>
                </a:lnTo>
                <a:lnTo>
                  <a:pt x="80949" y="129324"/>
                </a:lnTo>
                <a:lnTo>
                  <a:pt x="105740" y="129324"/>
                </a:lnTo>
                <a:lnTo>
                  <a:pt x="105740" y="7150"/>
                </a:lnTo>
                <a:close/>
              </a:path>
              <a:path w="732789" h="131445">
                <a:moveTo>
                  <a:pt x="221335" y="78803"/>
                </a:moveTo>
                <a:lnTo>
                  <a:pt x="205447" y="40843"/>
                </a:lnTo>
                <a:lnTo>
                  <a:pt x="195719" y="35788"/>
                </a:lnTo>
                <a:lnTo>
                  <a:pt x="195719" y="71932"/>
                </a:lnTo>
                <a:lnTo>
                  <a:pt x="149085" y="71932"/>
                </a:lnTo>
                <a:lnTo>
                  <a:pt x="166141" y="51041"/>
                </a:lnTo>
                <a:lnTo>
                  <a:pt x="178803" y="51041"/>
                </a:lnTo>
                <a:lnTo>
                  <a:pt x="195719" y="71932"/>
                </a:lnTo>
                <a:lnTo>
                  <a:pt x="195719" y="35788"/>
                </a:lnTo>
                <a:lnTo>
                  <a:pt x="192570" y="34340"/>
                </a:lnTo>
                <a:lnTo>
                  <a:pt x="186499" y="32435"/>
                </a:lnTo>
                <a:lnTo>
                  <a:pt x="179997" y="31292"/>
                </a:lnTo>
                <a:lnTo>
                  <a:pt x="172974" y="30911"/>
                </a:lnTo>
                <a:lnTo>
                  <a:pt x="165925" y="31292"/>
                </a:lnTo>
                <a:lnTo>
                  <a:pt x="129933" y="54483"/>
                </a:lnTo>
                <a:lnTo>
                  <a:pt x="123837" y="82296"/>
                </a:lnTo>
                <a:lnTo>
                  <a:pt x="124155" y="88087"/>
                </a:lnTo>
                <a:lnTo>
                  <a:pt x="147612" y="124675"/>
                </a:lnTo>
                <a:lnTo>
                  <a:pt x="173012" y="130898"/>
                </a:lnTo>
                <a:lnTo>
                  <a:pt x="181457" y="130327"/>
                </a:lnTo>
                <a:lnTo>
                  <a:pt x="213321" y="110617"/>
                </a:lnTo>
                <a:lnTo>
                  <a:pt x="216281" y="105613"/>
                </a:lnTo>
                <a:lnTo>
                  <a:pt x="218897" y="98933"/>
                </a:lnTo>
                <a:lnTo>
                  <a:pt x="192176" y="98933"/>
                </a:lnTo>
                <a:lnTo>
                  <a:pt x="188239" y="106718"/>
                </a:lnTo>
                <a:lnTo>
                  <a:pt x="181724" y="110617"/>
                </a:lnTo>
                <a:lnTo>
                  <a:pt x="166141" y="110617"/>
                </a:lnTo>
                <a:lnTo>
                  <a:pt x="160756" y="108635"/>
                </a:lnTo>
                <a:lnTo>
                  <a:pt x="152019" y="100723"/>
                </a:lnTo>
                <a:lnTo>
                  <a:pt x="149542" y="95250"/>
                </a:lnTo>
                <a:lnTo>
                  <a:pt x="148945" y="88252"/>
                </a:lnTo>
                <a:lnTo>
                  <a:pt x="220611" y="88252"/>
                </a:lnTo>
                <a:lnTo>
                  <a:pt x="221119" y="85445"/>
                </a:lnTo>
                <a:lnTo>
                  <a:pt x="221335" y="82296"/>
                </a:lnTo>
                <a:lnTo>
                  <a:pt x="221335" y="78803"/>
                </a:lnTo>
                <a:close/>
              </a:path>
              <a:path w="732789" h="131445">
                <a:moveTo>
                  <a:pt x="290322" y="32524"/>
                </a:moveTo>
                <a:lnTo>
                  <a:pt x="268376" y="32524"/>
                </a:lnTo>
                <a:lnTo>
                  <a:pt x="268376" y="8572"/>
                </a:lnTo>
                <a:lnTo>
                  <a:pt x="243382" y="8572"/>
                </a:lnTo>
                <a:lnTo>
                  <a:pt x="243382" y="32524"/>
                </a:lnTo>
                <a:lnTo>
                  <a:pt x="231660" y="32524"/>
                </a:lnTo>
                <a:lnTo>
                  <a:pt x="231660" y="52616"/>
                </a:lnTo>
                <a:lnTo>
                  <a:pt x="243382" y="52616"/>
                </a:lnTo>
                <a:lnTo>
                  <a:pt x="243382" y="99263"/>
                </a:lnTo>
                <a:lnTo>
                  <a:pt x="245351" y="112420"/>
                </a:lnTo>
                <a:lnTo>
                  <a:pt x="251244" y="121818"/>
                </a:lnTo>
                <a:lnTo>
                  <a:pt x="261048" y="127444"/>
                </a:lnTo>
                <a:lnTo>
                  <a:pt x="274764" y="129324"/>
                </a:lnTo>
                <a:lnTo>
                  <a:pt x="290322" y="129324"/>
                </a:lnTo>
                <a:lnTo>
                  <a:pt x="290322" y="108712"/>
                </a:lnTo>
                <a:lnTo>
                  <a:pt x="275056" y="108712"/>
                </a:lnTo>
                <a:lnTo>
                  <a:pt x="272364" y="108000"/>
                </a:lnTo>
                <a:lnTo>
                  <a:pt x="269163" y="105079"/>
                </a:lnTo>
                <a:lnTo>
                  <a:pt x="268376" y="102717"/>
                </a:lnTo>
                <a:lnTo>
                  <a:pt x="268376" y="52616"/>
                </a:lnTo>
                <a:lnTo>
                  <a:pt x="290322" y="52616"/>
                </a:lnTo>
                <a:lnTo>
                  <a:pt x="290322" y="32524"/>
                </a:lnTo>
                <a:close/>
              </a:path>
              <a:path w="732789" h="131445">
                <a:moveTo>
                  <a:pt x="444309" y="32486"/>
                </a:moveTo>
                <a:lnTo>
                  <a:pt x="420522" y="32486"/>
                </a:lnTo>
                <a:lnTo>
                  <a:pt x="403161" y="106045"/>
                </a:lnTo>
                <a:lnTo>
                  <a:pt x="384733" y="32486"/>
                </a:lnTo>
                <a:lnTo>
                  <a:pt x="358508" y="32486"/>
                </a:lnTo>
                <a:lnTo>
                  <a:pt x="339763" y="106235"/>
                </a:lnTo>
                <a:lnTo>
                  <a:pt x="322402" y="32486"/>
                </a:lnTo>
                <a:lnTo>
                  <a:pt x="297256" y="32486"/>
                </a:lnTo>
                <a:lnTo>
                  <a:pt x="326110" y="129324"/>
                </a:lnTo>
                <a:lnTo>
                  <a:pt x="353060" y="129324"/>
                </a:lnTo>
                <a:lnTo>
                  <a:pt x="370954" y="61683"/>
                </a:lnTo>
                <a:lnTo>
                  <a:pt x="388823" y="129324"/>
                </a:lnTo>
                <a:lnTo>
                  <a:pt x="415582" y="129324"/>
                </a:lnTo>
                <a:lnTo>
                  <a:pt x="444309" y="32486"/>
                </a:lnTo>
                <a:close/>
              </a:path>
              <a:path w="732789" h="131445">
                <a:moveTo>
                  <a:pt x="552526" y="80899"/>
                </a:moveTo>
                <a:lnTo>
                  <a:pt x="535432" y="41249"/>
                </a:lnTo>
                <a:lnTo>
                  <a:pt x="527024" y="36779"/>
                </a:lnTo>
                <a:lnTo>
                  <a:pt x="527024" y="71691"/>
                </a:lnTo>
                <a:lnTo>
                  <a:pt x="527024" y="87083"/>
                </a:lnTo>
                <a:lnTo>
                  <a:pt x="505802" y="109575"/>
                </a:lnTo>
                <a:lnTo>
                  <a:pt x="494245" y="109575"/>
                </a:lnTo>
                <a:lnTo>
                  <a:pt x="488442" y="107137"/>
                </a:lnTo>
                <a:lnTo>
                  <a:pt x="487654" y="106349"/>
                </a:lnTo>
                <a:lnTo>
                  <a:pt x="479018" y="97205"/>
                </a:lnTo>
                <a:lnTo>
                  <a:pt x="476707" y="90119"/>
                </a:lnTo>
                <a:lnTo>
                  <a:pt x="476707" y="71691"/>
                </a:lnTo>
                <a:lnTo>
                  <a:pt x="479069" y="64643"/>
                </a:lnTo>
                <a:lnTo>
                  <a:pt x="488670" y="54711"/>
                </a:lnTo>
                <a:lnTo>
                  <a:pt x="494626" y="52235"/>
                </a:lnTo>
                <a:lnTo>
                  <a:pt x="508749" y="52235"/>
                </a:lnTo>
                <a:lnTo>
                  <a:pt x="514769" y="54711"/>
                </a:lnTo>
                <a:lnTo>
                  <a:pt x="524560" y="64643"/>
                </a:lnTo>
                <a:lnTo>
                  <a:pt x="527024" y="71691"/>
                </a:lnTo>
                <a:lnTo>
                  <a:pt x="527024" y="36779"/>
                </a:lnTo>
                <a:lnTo>
                  <a:pt x="521830" y="34391"/>
                </a:lnTo>
                <a:lnTo>
                  <a:pt x="515581" y="32435"/>
                </a:lnTo>
                <a:lnTo>
                  <a:pt x="508977" y="31267"/>
                </a:lnTo>
                <a:lnTo>
                  <a:pt x="502043" y="30873"/>
                </a:lnTo>
                <a:lnTo>
                  <a:pt x="495109" y="31267"/>
                </a:lnTo>
                <a:lnTo>
                  <a:pt x="458190" y="54711"/>
                </a:lnTo>
                <a:lnTo>
                  <a:pt x="451561" y="80899"/>
                </a:lnTo>
                <a:lnTo>
                  <a:pt x="451904" y="87083"/>
                </a:lnTo>
                <a:lnTo>
                  <a:pt x="451954" y="88125"/>
                </a:lnTo>
                <a:lnTo>
                  <a:pt x="453161" y="94907"/>
                </a:lnTo>
                <a:lnTo>
                  <a:pt x="455091" y="100952"/>
                </a:lnTo>
                <a:lnTo>
                  <a:pt x="455180" y="101244"/>
                </a:lnTo>
                <a:lnTo>
                  <a:pt x="487794" y="129387"/>
                </a:lnTo>
                <a:lnTo>
                  <a:pt x="501307" y="130937"/>
                </a:lnTo>
                <a:lnTo>
                  <a:pt x="508215" y="130543"/>
                </a:lnTo>
                <a:lnTo>
                  <a:pt x="541972" y="112483"/>
                </a:lnTo>
                <a:lnTo>
                  <a:pt x="552094" y="88125"/>
                </a:lnTo>
                <a:lnTo>
                  <a:pt x="552526" y="80899"/>
                </a:lnTo>
                <a:close/>
              </a:path>
              <a:path w="732789" h="131445">
                <a:moveTo>
                  <a:pt x="625716" y="31102"/>
                </a:moveTo>
                <a:lnTo>
                  <a:pt x="619099" y="31102"/>
                </a:lnTo>
                <a:lnTo>
                  <a:pt x="613232" y="32562"/>
                </a:lnTo>
                <a:lnTo>
                  <a:pt x="608101" y="35445"/>
                </a:lnTo>
                <a:lnTo>
                  <a:pt x="602970" y="38366"/>
                </a:lnTo>
                <a:lnTo>
                  <a:pt x="598792" y="42379"/>
                </a:lnTo>
                <a:lnTo>
                  <a:pt x="595591" y="47510"/>
                </a:lnTo>
                <a:lnTo>
                  <a:pt x="595591" y="32486"/>
                </a:lnTo>
                <a:lnTo>
                  <a:pt x="570801" y="32486"/>
                </a:lnTo>
                <a:lnTo>
                  <a:pt x="570801" y="129362"/>
                </a:lnTo>
                <a:lnTo>
                  <a:pt x="595591" y="129362"/>
                </a:lnTo>
                <a:lnTo>
                  <a:pt x="595591" y="72136"/>
                </a:lnTo>
                <a:lnTo>
                  <a:pt x="597560" y="65836"/>
                </a:lnTo>
                <a:lnTo>
                  <a:pt x="605472" y="58610"/>
                </a:lnTo>
                <a:lnTo>
                  <a:pt x="611365" y="56807"/>
                </a:lnTo>
                <a:lnTo>
                  <a:pt x="625716" y="56807"/>
                </a:lnTo>
                <a:lnTo>
                  <a:pt x="625716" y="31102"/>
                </a:lnTo>
                <a:close/>
              </a:path>
              <a:path w="732789" h="131445">
                <a:moveTo>
                  <a:pt x="732701" y="129324"/>
                </a:moveTo>
                <a:lnTo>
                  <a:pt x="689114" y="81089"/>
                </a:lnTo>
                <a:lnTo>
                  <a:pt x="732345" y="32486"/>
                </a:lnTo>
                <a:lnTo>
                  <a:pt x="700112" y="32486"/>
                </a:lnTo>
                <a:lnTo>
                  <a:pt x="667169" y="73558"/>
                </a:lnTo>
                <a:lnTo>
                  <a:pt x="667169" y="0"/>
                </a:lnTo>
                <a:lnTo>
                  <a:pt x="642378" y="0"/>
                </a:lnTo>
                <a:lnTo>
                  <a:pt x="642378" y="129324"/>
                </a:lnTo>
                <a:lnTo>
                  <a:pt x="667169" y="129324"/>
                </a:lnTo>
                <a:lnTo>
                  <a:pt x="667169" y="88061"/>
                </a:lnTo>
                <a:lnTo>
                  <a:pt x="700430" y="129324"/>
                </a:lnTo>
                <a:lnTo>
                  <a:pt x="732701" y="129324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5252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5252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5252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79825" y="1426164"/>
            <a:ext cx="4821548" cy="481878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339017" y="6373638"/>
            <a:ext cx="611505" cy="241935"/>
          </a:xfrm>
          <a:custGeom>
            <a:avLst/>
            <a:gdLst/>
            <a:ahLst/>
            <a:cxnLst/>
            <a:rect l="l" t="t" r="r" b="b"/>
            <a:pathLst>
              <a:path w="611504" h="241934">
                <a:moveTo>
                  <a:pt x="118848" y="226030"/>
                </a:moveTo>
                <a:lnTo>
                  <a:pt x="0" y="226030"/>
                </a:lnTo>
                <a:lnTo>
                  <a:pt x="0" y="241407"/>
                </a:lnTo>
                <a:lnTo>
                  <a:pt x="118848" y="241407"/>
                </a:lnTo>
                <a:lnTo>
                  <a:pt x="118848" y="226030"/>
                </a:lnTo>
                <a:close/>
              </a:path>
              <a:path w="611504" h="241934">
                <a:moveTo>
                  <a:pt x="118848" y="193741"/>
                </a:moveTo>
                <a:lnTo>
                  <a:pt x="0" y="193741"/>
                </a:lnTo>
                <a:lnTo>
                  <a:pt x="0" y="209117"/>
                </a:lnTo>
                <a:lnTo>
                  <a:pt x="118848" y="209117"/>
                </a:lnTo>
                <a:lnTo>
                  <a:pt x="118848" y="193741"/>
                </a:lnTo>
                <a:close/>
              </a:path>
              <a:path w="611504" h="241934">
                <a:moveTo>
                  <a:pt x="84891" y="161451"/>
                </a:moveTo>
                <a:lnTo>
                  <a:pt x="33957" y="161451"/>
                </a:lnTo>
                <a:lnTo>
                  <a:pt x="33957" y="176827"/>
                </a:lnTo>
                <a:lnTo>
                  <a:pt x="84891" y="176827"/>
                </a:lnTo>
                <a:lnTo>
                  <a:pt x="84891" y="161451"/>
                </a:lnTo>
                <a:close/>
              </a:path>
              <a:path w="611504" h="241934">
                <a:moveTo>
                  <a:pt x="84891" y="129161"/>
                </a:moveTo>
                <a:lnTo>
                  <a:pt x="33956" y="129161"/>
                </a:lnTo>
                <a:lnTo>
                  <a:pt x="33956" y="144537"/>
                </a:lnTo>
                <a:lnTo>
                  <a:pt x="84891" y="144537"/>
                </a:lnTo>
                <a:lnTo>
                  <a:pt x="84891" y="129161"/>
                </a:lnTo>
                <a:close/>
              </a:path>
              <a:path w="611504" h="241934">
                <a:moveTo>
                  <a:pt x="84891" y="96869"/>
                </a:moveTo>
                <a:lnTo>
                  <a:pt x="33956" y="96869"/>
                </a:lnTo>
                <a:lnTo>
                  <a:pt x="33956" y="112246"/>
                </a:lnTo>
                <a:lnTo>
                  <a:pt x="84891" y="112246"/>
                </a:lnTo>
                <a:lnTo>
                  <a:pt x="84891" y="96869"/>
                </a:lnTo>
                <a:close/>
              </a:path>
              <a:path w="611504" h="241934">
                <a:moveTo>
                  <a:pt x="84891" y="64579"/>
                </a:moveTo>
                <a:lnTo>
                  <a:pt x="33956" y="64579"/>
                </a:lnTo>
                <a:lnTo>
                  <a:pt x="33956" y="79956"/>
                </a:lnTo>
                <a:lnTo>
                  <a:pt x="84891" y="79956"/>
                </a:lnTo>
                <a:lnTo>
                  <a:pt x="84891" y="64579"/>
                </a:lnTo>
                <a:close/>
              </a:path>
              <a:path w="611504" h="241934">
                <a:moveTo>
                  <a:pt x="118848" y="32289"/>
                </a:moveTo>
                <a:lnTo>
                  <a:pt x="0" y="32289"/>
                </a:lnTo>
                <a:lnTo>
                  <a:pt x="0" y="47666"/>
                </a:lnTo>
                <a:lnTo>
                  <a:pt x="118848" y="47666"/>
                </a:lnTo>
                <a:lnTo>
                  <a:pt x="118848" y="32289"/>
                </a:lnTo>
                <a:close/>
              </a:path>
              <a:path w="611504" h="241934">
                <a:moveTo>
                  <a:pt x="118847" y="0"/>
                </a:moveTo>
                <a:lnTo>
                  <a:pt x="0" y="0"/>
                </a:lnTo>
                <a:lnTo>
                  <a:pt x="0" y="15376"/>
                </a:lnTo>
                <a:lnTo>
                  <a:pt x="118847" y="15376"/>
                </a:lnTo>
                <a:lnTo>
                  <a:pt x="118847" y="0"/>
                </a:lnTo>
                <a:close/>
              </a:path>
              <a:path w="611504" h="241934">
                <a:moveTo>
                  <a:pt x="302818" y="226030"/>
                </a:moveTo>
                <a:lnTo>
                  <a:pt x="135826" y="226030"/>
                </a:lnTo>
                <a:lnTo>
                  <a:pt x="135826" y="241407"/>
                </a:lnTo>
                <a:lnTo>
                  <a:pt x="260848" y="241407"/>
                </a:lnTo>
                <a:lnTo>
                  <a:pt x="272565" y="240352"/>
                </a:lnTo>
                <a:lnTo>
                  <a:pt x="283589" y="237311"/>
                </a:lnTo>
                <a:lnTo>
                  <a:pt x="293735" y="232475"/>
                </a:lnTo>
                <a:lnTo>
                  <a:pt x="302818" y="226030"/>
                </a:lnTo>
                <a:close/>
              </a:path>
              <a:path w="611504" h="241934">
                <a:moveTo>
                  <a:pt x="323423" y="193741"/>
                </a:moveTo>
                <a:lnTo>
                  <a:pt x="135826" y="193741"/>
                </a:lnTo>
                <a:lnTo>
                  <a:pt x="135826" y="209117"/>
                </a:lnTo>
                <a:lnTo>
                  <a:pt x="316979" y="209117"/>
                </a:lnTo>
                <a:lnTo>
                  <a:pt x="319758" y="204350"/>
                </a:lnTo>
                <a:lnTo>
                  <a:pt x="321944" y="199184"/>
                </a:lnTo>
                <a:lnTo>
                  <a:pt x="323423" y="193741"/>
                </a:lnTo>
                <a:close/>
              </a:path>
              <a:path w="611504" h="241934">
                <a:moveTo>
                  <a:pt x="220718" y="161451"/>
                </a:moveTo>
                <a:lnTo>
                  <a:pt x="169783" y="161451"/>
                </a:lnTo>
                <a:lnTo>
                  <a:pt x="169783" y="176827"/>
                </a:lnTo>
                <a:lnTo>
                  <a:pt x="220718" y="176827"/>
                </a:lnTo>
                <a:lnTo>
                  <a:pt x="220718" y="161451"/>
                </a:lnTo>
                <a:close/>
              </a:path>
              <a:path w="611504" h="241934">
                <a:moveTo>
                  <a:pt x="316966" y="96869"/>
                </a:moveTo>
                <a:lnTo>
                  <a:pt x="169783" y="96869"/>
                </a:lnTo>
                <a:lnTo>
                  <a:pt x="169783" y="112246"/>
                </a:lnTo>
                <a:lnTo>
                  <a:pt x="304515" y="112246"/>
                </a:lnTo>
                <a:lnTo>
                  <a:pt x="309403" y="107786"/>
                </a:lnTo>
                <a:lnTo>
                  <a:pt x="313622" y="102623"/>
                </a:lnTo>
                <a:lnTo>
                  <a:pt x="316966" y="96869"/>
                </a:lnTo>
                <a:close/>
              </a:path>
              <a:path w="611504" h="241934">
                <a:moveTo>
                  <a:pt x="316979" y="32289"/>
                </a:moveTo>
                <a:lnTo>
                  <a:pt x="135826" y="32289"/>
                </a:lnTo>
                <a:lnTo>
                  <a:pt x="135826" y="47666"/>
                </a:lnTo>
                <a:lnTo>
                  <a:pt x="323423" y="47666"/>
                </a:lnTo>
                <a:lnTo>
                  <a:pt x="321944" y="42220"/>
                </a:lnTo>
                <a:lnTo>
                  <a:pt x="319757" y="37056"/>
                </a:lnTo>
                <a:lnTo>
                  <a:pt x="316979" y="32289"/>
                </a:lnTo>
                <a:close/>
              </a:path>
              <a:path w="611504" h="241934">
                <a:moveTo>
                  <a:pt x="220717" y="64579"/>
                </a:moveTo>
                <a:lnTo>
                  <a:pt x="169782" y="64579"/>
                </a:lnTo>
                <a:lnTo>
                  <a:pt x="169782" y="79956"/>
                </a:lnTo>
                <a:lnTo>
                  <a:pt x="220717" y="79956"/>
                </a:lnTo>
                <a:lnTo>
                  <a:pt x="220717" y="64579"/>
                </a:lnTo>
                <a:close/>
              </a:path>
              <a:path w="611504" h="241934">
                <a:moveTo>
                  <a:pt x="325674" y="64579"/>
                </a:moveTo>
                <a:lnTo>
                  <a:pt x="268565" y="64579"/>
                </a:lnTo>
                <a:lnTo>
                  <a:pt x="268565" y="79956"/>
                </a:lnTo>
                <a:lnTo>
                  <a:pt x="323796" y="79956"/>
                </a:lnTo>
                <a:lnTo>
                  <a:pt x="324992" y="75022"/>
                </a:lnTo>
                <a:lnTo>
                  <a:pt x="325674" y="69884"/>
                </a:lnTo>
                <a:lnTo>
                  <a:pt x="325674" y="64579"/>
                </a:lnTo>
                <a:close/>
              </a:path>
              <a:path w="611504" h="241934">
                <a:moveTo>
                  <a:pt x="323796" y="161451"/>
                </a:moveTo>
                <a:lnTo>
                  <a:pt x="268565" y="161451"/>
                </a:lnTo>
                <a:lnTo>
                  <a:pt x="268565" y="176827"/>
                </a:lnTo>
                <a:lnTo>
                  <a:pt x="325674" y="176827"/>
                </a:lnTo>
                <a:lnTo>
                  <a:pt x="325674" y="171522"/>
                </a:lnTo>
                <a:lnTo>
                  <a:pt x="324992" y="166386"/>
                </a:lnTo>
                <a:lnTo>
                  <a:pt x="323796" y="161451"/>
                </a:lnTo>
                <a:close/>
              </a:path>
              <a:path w="611504" h="241934">
                <a:moveTo>
                  <a:pt x="304515" y="129161"/>
                </a:moveTo>
                <a:lnTo>
                  <a:pt x="169783" y="129161"/>
                </a:lnTo>
                <a:lnTo>
                  <a:pt x="169783" y="144537"/>
                </a:lnTo>
                <a:lnTo>
                  <a:pt x="316966" y="144537"/>
                </a:lnTo>
                <a:lnTo>
                  <a:pt x="313622" y="138786"/>
                </a:lnTo>
                <a:lnTo>
                  <a:pt x="309403" y="133620"/>
                </a:lnTo>
                <a:lnTo>
                  <a:pt x="304515" y="129161"/>
                </a:lnTo>
                <a:close/>
              </a:path>
              <a:path w="611504" h="241934">
                <a:moveTo>
                  <a:pt x="260848" y="0"/>
                </a:moveTo>
                <a:lnTo>
                  <a:pt x="135826" y="0"/>
                </a:lnTo>
                <a:lnTo>
                  <a:pt x="135826" y="15376"/>
                </a:lnTo>
                <a:lnTo>
                  <a:pt x="302817" y="15376"/>
                </a:lnTo>
                <a:lnTo>
                  <a:pt x="293734" y="8935"/>
                </a:lnTo>
                <a:lnTo>
                  <a:pt x="283588" y="4098"/>
                </a:lnTo>
                <a:lnTo>
                  <a:pt x="272564" y="1056"/>
                </a:lnTo>
                <a:lnTo>
                  <a:pt x="260848" y="0"/>
                </a:lnTo>
                <a:close/>
              </a:path>
              <a:path w="611504" h="241934">
                <a:moveTo>
                  <a:pt x="424457" y="226030"/>
                </a:moveTo>
                <a:lnTo>
                  <a:pt x="339566" y="226030"/>
                </a:lnTo>
                <a:lnTo>
                  <a:pt x="339566" y="241407"/>
                </a:lnTo>
                <a:lnTo>
                  <a:pt x="424457" y="241407"/>
                </a:lnTo>
                <a:lnTo>
                  <a:pt x="424457" y="226030"/>
                </a:lnTo>
                <a:close/>
              </a:path>
              <a:path w="611504" h="241934">
                <a:moveTo>
                  <a:pt x="424457" y="193741"/>
                </a:moveTo>
                <a:lnTo>
                  <a:pt x="339566" y="193741"/>
                </a:lnTo>
                <a:lnTo>
                  <a:pt x="339566" y="209117"/>
                </a:lnTo>
                <a:lnTo>
                  <a:pt x="424457" y="209117"/>
                </a:lnTo>
                <a:lnTo>
                  <a:pt x="424457" y="193741"/>
                </a:lnTo>
                <a:close/>
              </a:path>
              <a:path w="611504" h="241934">
                <a:moveTo>
                  <a:pt x="424457" y="161451"/>
                </a:moveTo>
                <a:lnTo>
                  <a:pt x="373522" y="161451"/>
                </a:lnTo>
                <a:lnTo>
                  <a:pt x="373522" y="176827"/>
                </a:lnTo>
                <a:lnTo>
                  <a:pt x="424457" y="176827"/>
                </a:lnTo>
                <a:lnTo>
                  <a:pt x="424457" y="161451"/>
                </a:lnTo>
                <a:close/>
              </a:path>
              <a:path w="611504" h="241934">
                <a:moveTo>
                  <a:pt x="424457" y="129161"/>
                </a:moveTo>
                <a:lnTo>
                  <a:pt x="373522" y="129161"/>
                </a:lnTo>
                <a:lnTo>
                  <a:pt x="373522" y="144537"/>
                </a:lnTo>
                <a:lnTo>
                  <a:pt x="424457" y="144537"/>
                </a:lnTo>
                <a:lnTo>
                  <a:pt x="424457" y="129161"/>
                </a:lnTo>
                <a:close/>
              </a:path>
              <a:path w="611504" h="241934">
                <a:moveTo>
                  <a:pt x="611218" y="226030"/>
                </a:moveTo>
                <a:lnTo>
                  <a:pt x="526327" y="226030"/>
                </a:lnTo>
                <a:lnTo>
                  <a:pt x="526327" y="241407"/>
                </a:lnTo>
                <a:lnTo>
                  <a:pt x="611218" y="241407"/>
                </a:lnTo>
                <a:lnTo>
                  <a:pt x="611218" y="226030"/>
                </a:lnTo>
                <a:close/>
              </a:path>
              <a:path w="611504" h="241934">
                <a:moveTo>
                  <a:pt x="611218" y="193741"/>
                </a:moveTo>
                <a:lnTo>
                  <a:pt x="526327" y="193741"/>
                </a:lnTo>
                <a:lnTo>
                  <a:pt x="526327" y="209117"/>
                </a:lnTo>
                <a:lnTo>
                  <a:pt x="611218" y="209117"/>
                </a:lnTo>
                <a:lnTo>
                  <a:pt x="611218" y="193741"/>
                </a:lnTo>
                <a:close/>
              </a:path>
              <a:path w="611504" h="241934">
                <a:moveTo>
                  <a:pt x="577261" y="161451"/>
                </a:moveTo>
                <a:lnTo>
                  <a:pt x="526326" y="161451"/>
                </a:lnTo>
                <a:lnTo>
                  <a:pt x="526326" y="176827"/>
                </a:lnTo>
                <a:lnTo>
                  <a:pt x="577261" y="176827"/>
                </a:lnTo>
                <a:lnTo>
                  <a:pt x="577261" y="161451"/>
                </a:lnTo>
                <a:close/>
              </a:path>
              <a:path w="611504" h="241934">
                <a:moveTo>
                  <a:pt x="577261" y="129161"/>
                </a:moveTo>
                <a:lnTo>
                  <a:pt x="526326" y="129161"/>
                </a:lnTo>
                <a:lnTo>
                  <a:pt x="526326" y="144537"/>
                </a:lnTo>
                <a:lnTo>
                  <a:pt x="577261" y="144537"/>
                </a:lnTo>
                <a:lnTo>
                  <a:pt x="577261" y="129161"/>
                </a:lnTo>
                <a:close/>
              </a:path>
              <a:path w="611504" h="241934">
                <a:moveTo>
                  <a:pt x="577261" y="96869"/>
                </a:moveTo>
                <a:lnTo>
                  <a:pt x="481784" y="96869"/>
                </a:lnTo>
                <a:lnTo>
                  <a:pt x="476420" y="112246"/>
                </a:lnTo>
                <a:lnTo>
                  <a:pt x="521130" y="112246"/>
                </a:lnTo>
                <a:lnTo>
                  <a:pt x="526313" y="97613"/>
                </a:lnTo>
                <a:lnTo>
                  <a:pt x="577261" y="97613"/>
                </a:lnTo>
                <a:lnTo>
                  <a:pt x="577261" y="96869"/>
                </a:lnTo>
                <a:close/>
              </a:path>
              <a:path w="611504" h="241934">
                <a:moveTo>
                  <a:pt x="577261" y="97613"/>
                </a:moveTo>
                <a:lnTo>
                  <a:pt x="526313" y="97613"/>
                </a:lnTo>
                <a:lnTo>
                  <a:pt x="526313" y="112246"/>
                </a:lnTo>
                <a:lnTo>
                  <a:pt x="577261" y="112246"/>
                </a:lnTo>
                <a:lnTo>
                  <a:pt x="577261" y="97613"/>
                </a:lnTo>
                <a:close/>
              </a:path>
              <a:path w="611504" h="241934">
                <a:moveTo>
                  <a:pt x="577261" y="64579"/>
                </a:moveTo>
                <a:lnTo>
                  <a:pt x="493038" y="64579"/>
                </a:lnTo>
                <a:lnTo>
                  <a:pt x="487675" y="79956"/>
                </a:lnTo>
                <a:lnTo>
                  <a:pt x="577261" y="79956"/>
                </a:lnTo>
                <a:lnTo>
                  <a:pt x="577261" y="64579"/>
                </a:lnTo>
                <a:close/>
              </a:path>
              <a:path w="611504" h="241934">
                <a:moveTo>
                  <a:pt x="611217" y="0"/>
                </a:moveTo>
                <a:lnTo>
                  <a:pt x="515522" y="0"/>
                </a:lnTo>
                <a:lnTo>
                  <a:pt x="510171" y="15376"/>
                </a:lnTo>
                <a:lnTo>
                  <a:pt x="611217" y="15376"/>
                </a:lnTo>
                <a:lnTo>
                  <a:pt x="611217" y="0"/>
                </a:lnTo>
                <a:close/>
              </a:path>
              <a:path w="611504" h="241934">
                <a:moveTo>
                  <a:pt x="480807" y="226030"/>
                </a:moveTo>
                <a:lnTo>
                  <a:pt x="469977" y="226030"/>
                </a:lnTo>
                <a:lnTo>
                  <a:pt x="475392" y="241407"/>
                </a:lnTo>
                <a:lnTo>
                  <a:pt x="480807" y="226030"/>
                </a:lnTo>
                <a:close/>
              </a:path>
              <a:path w="611504" h="241934">
                <a:moveTo>
                  <a:pt x="492267" y="193741"/>
                </a:moveTo>
                <a:lnTo>
                  <a:pt x="458542" y="193741"/>
                </a:lnTo>
                <a:lnTo>
                  <a:pt x="463983" y="209117"/>
                </a:lnTo>
                <a:lnTo>
                  <a:pt x="486813" y="209117"/>
                </a:lnTo>
                <a:lnTo>
                  <a:pt x="492267" y="193741"/>
                </a:lnTo>
                <a:close/>
              </a:path>
              <a:path w="611504" h="241934">
                <a:moveTo>
                  <a:pt x="503714" y="161451"/>
                </a:moveTo>
                <a:lnTo>
                  <a:pt x="447094" y="161451"/>
                </a:lnTo>
                <a:lnTo>
                  <a:pt x="452548" y="176827"/>
                </a:lnTo>
                <a:lnTo>
                  <a:pt x="498261" y="176827"/>
                </a:lnTo>
                <a:lnTo>
                  <a:pt x="503714" y="161451"/>
                </a:lnTo>
                <a:close/>
              </a:path>
              <a:path w="611504" h="241934">
                <a:moveTo>
                  <a:pt x="515162" y="129161"/>
                </a:moveTo>
                <a:lnTo>
                  <a:pt x="435660" y="129161"/>
                </a:lnTo>
                <a:lnTo>
                  <a:pt x="441113" y="144537"/>
                </a:lnTo>
                <a:lnTo>
                  <a:pt x="509721" y="144537"/>
                </a:lnTo>
                <a:lnTo>
                  <a:pt x="515162" y="129161"/>
                </a:lnTo>
                <a:close/>
              </a:path>
              <a:path w="611504" h="241934">
                <a:moveTo>
                  <a:pt x="457770" y="64579"/>
                </a:moveTo>
                <a:lnTo>
                  <a:pt x="373535" y="64579"/>
                </a:lnTo>
                <a:lnTo>
                  <a:pt x="373535" y="79956"/>
                </a:lnTo>
                <a:lnTo>
                  <a:pt x="463121" y="79956"/>
                </a:lnTo>
                <a:lnTo>
                  <a:pt x="457770" y="64579"/>
                </a:lnTo>
                <a:close/>
              </a:path>
              <a:path w="611504" h="241934">
                <a:moveTo>
                  <a:pt x="611230" y="32289"/>
                </a:moveTo>
                <a:lnTo>
                  <a:pt x="504280" y="32289"/>
                </a:lnTo>
                <a:lnTo>
                  <a:pt x="498929" y="47666"/>
                </a:lnTo>
                <a:lnTo>
                  <a:pt x="611230" y="47666"/>
                </a:lnTo>
                <a:lnTo>
                  <a:pt x="611230" y="32289"/>
                </a:lnTo>
                <a:close/>
              </a:path>
              <a:path w="611504" h="241934">
                <a:moveTo>
                  <a:pt x="446515" y="32289"/>
                </a:moveTo>
                <a:lnTo>
                  <a:pt x="339578" y="32289"/>
                </a:lnTo>
                <a:lnTo>
                  <a:pt x="339578" y="47666"/>
                </a:lnTo>
                <a:lnTo>
                  <a:pt x="451866" y="47666"/>
                </a:lnTo>
                <a:lnTo>
                  <a:pt x="446515" y="32289"/>
                </a:lnTo>
                <a:close/>
              </a:path>
              <a:path w="611504" h="241934">
                <a:moveTo>
                  <a:pt x="435274" y="0"/>
                </a:moveTo>
                <a:lnTo>
                  <a:pt x="339578" y="0"/>
                </a:lnTo>
                <a:lnTo>
                  <a:pt x="339578" y="15376"/>
                </a:lnTo>
                <a:lnTo>
                  <a:pt x="440637" y="15376"/>
                </a:lnTo>
                <a:lnTo>
                  <a:pt x="435274" y="0"/>
                </a:lnTo>
                <a:close/>
              </a:path>
              <a:path w="611504" h="241934">
                <a:moveTo>
                  <a:pt x="469012" y="96869"/>
                </a:moveTo>
                <a:lnTo>
                  <a:pt x="373535" y="96869"/>
                </a:lnTo>
                <a:lnTo>
                  <a:pt x="373535" y="112246"/>
                </a:lnTo>
                <a:lnTo>
                  <a:pt x="424469" y="112246"/>
                </a:lnTo>
                <a:lnTo>
                  <a:pt x="424469" y="97651"/>
                </a:lnTo>
                <a:lnTo>
                  <a:pt x="469284" y="97651"/>
                </a:lnTo>
                <a:lnTo>
                  <a:pt x="469012" y="96869"/>
                </a:lnTo>
                <a:close/>
              </a:path>
              <a:path w="611504" h="241934">
                <a:moveTo>
                  <a:pt x="469284" y="97651"/>
                </a:moveTo>
                <a:lnTo>
                  <a:pt x="424469" y="97651"/>
                </a:lnTo>
                <a:lnTo>
                  <a:pt x="429653" y="112246"/>
                </a:lnTo>
                <a:lnTo>
                  <a:pt x="474375" y="112246"/>
                </a:lnTo>
                <a:lnTo>
                  <a:pt x="469284" y="97651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3750" y="6375624"/>
            <a:ext cx="245246" cy="24197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4251" y="6414559"/>
            <a:ext cx="317477" cy="14360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31545" y="6427647"/>
            <a:ext cx="138430" cy="130810"/>
          </a:xfrm>
          <a:custGeom>
            <a:avLst/>
            <a:gdLst/>
            <a:ahLst/>
            <a:cxnLst/>
            <a:rect l="l" t="t" r="r" b="b"/>
            <a:pathLst>
              <a:path w="138430" h="130809">
                <a:moveTo>
                  <a:pt x="34721" y="0"/>
                </a:moveTo>
                <a:lnTo>
                  <a:pt x="0" y="0"/>
                </a:lnTo>
                <a:lnTo>
                  <a:pt x="0" y="129324"/>
                </a:lnTo>
                <a:lnTo>
                  <a:pt x="34721" y="129324"/>
                </a:lnTo>
                <a:lnTo>
                  <a:pt x="34721" y="0"/>
                </a:lnTo>
                <a:close/>
              </a:path>
              <a:path w="138430" h="130809">
                <a:moveTo>
                  <a:pt x="138201" y="93268"/>
                </a:moveTo>
                <a:lnTo>
                  <a:pt x="96240" y="68199"/>
                </a:lnTo>
                <a:lnTo>
                  <a:pt x="91871" y="66967"/>
                </a:lnTo>
                <a:lnTo>
                  <a:pt x="86461" y="64528"/>
                </a:lnTo>
                <a:lnTo>
                  <a:pt x="85090" y="62725"/>
                </a:lnTo>
                <a:lnTo>
                  <a:pt x="85090" y="58534"/>
                </a:lnTo>
                <a:lnTo>
                  <a:pt x="85826" y="57073"/>
                </a:lnTo>
                <a:lnTo>
                  <a:pt x="88773" y="54965"/>
                </a:lnTo>
                <a:lnTo>
                  <a:pt x="90893" y="54444"/>
                </a:lnTo>
                <a:lnTo>
                  <a:pt x="97447" y="54444"/>
                </a:lnTo>
                <a:lnTo>
                  <a:pt x="100330" y="55308"/>
                </a:lnTo>
                <a:lnTo>
                  <a:pt x="104724" y="58724"/>
                </a:lnTo>
                <a:lnTo>
                  <a:pt x="106095" y="61112"/>
                </a:lnTo>
                <a:lnTo>
                  <a:pt x="106692" y="64262"/>
                </a:lnTo>
                <a:lnTo>
                  <a:pt x="138049" y="64262"/>
                </a:lnTo>
                <a:lnTo>
                  <a:pt x="111874" y="32372"/>
                </a:lnTo>
                <a:lnTo>
                  <a:pt x="94475" y="30010"/>
                </a:lnTo>
                <a:lnTo>
                  <a:pt x="85725" y="30010"/>
                </a:lnTo>
                <a:lnTo>
                  <a:pt x="53174" y="55499"/>
                </a:lnTo>
                <a:lnTo>
                  <a:pt x="53174" y="68046"/>
                </a:lnTo>
                <a:lnTo>
                  <a:pt x="88417" y="90690"/>
                </a:lnTo>
                <a:lnTo>
                  <a:pt x="94653" y="92113"/>
                </a:lnTo>
                <a:lnTo>
                  <a:pt x="99161" y="93383"/>
                </a:lnTo>
                <a:lnTo>
                  <a:pt x="104571" y="95745"/>
                </a:lnTo>
                <a:lnTo>
                  <a:pt x="105930" y="97548"/>
                </a:lnTo>
                <a:lnTo>
                  <a:pt x="105930" y="101815"/>
                </a:lnTo>
                <a:lnTo>
                  <a:pt x="105143" y="103352"/>
                </a:lnTo>
                <a:lnTo>
                  <a:pt x="101854" y="105676"/>
                </a:lnTo>
                <a:lnTo>
                  <a:pt x="99593" y="106273"/>
                </a:lnTo>
                <a:lnTo>
                  <a:pt x="93078" y="106273"/>
                </a:lnTo>
                <a:lnTo>
                  <a:pt x="90004" y="105410"/>
                </a:lnTo>
                <a:lnTo>
                  <a:pt x="85001" y="101892"/>
                </a:lnTo>
                <a:lnTo>
                  <a:pt x="83540" y="99453"/>
                </a:lnTo>
                <a:lnTo>
                  <a:pt x="83070" y="96304"/>
                </a:lnTo>
                <a:lnTo>
                  <a:pt x="49428" y="96304"/>
                </a:lnTo>
                <a:lnTo>
                  <a:pt x="72898" y="126098"/>
                </a:lnTo>
                <a:lnTo>
                  <a:pt x="79933" y="128943"/>
                </a:lnTo>
                <a:lnTo>
                  <a:pt x="87947" y="130441"/>
                </a:lnTo>
                <a:lnTo>
                  <a:pt x="105295" y="130441"/>
                </a:lnTo>
                <a:lnTo>
                  <a:pt x="138201" y="106083"/>
                </a:lnTo>
                <a:lnTo>
                  <a:pt x="138201" y="93268"/>
                </a:lnTo>
                <a:close/>
              </a:path>
            </a:pathLst>
          </a:custGeom>
          <a:solidFill>
            <a:srgbClr val="893E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37627" y="6427647"/>
            <a:ext cx="732790" cy="131445"/>
          </a:xfrm>
          <a:custGeom>
            <a:avLst/>
            <a:gdLst/>
            <a:ahLst/>
            <a:cxnLst/>
            <a:rect l="l" t="t" r="r" b="b"/>
            <a:pathLst>
              <a:path w="732789" h="131445">
                <a:moveTo>
                  <a:pt x="105740" y="7150"/>
                </a:moveTo>
                <a:lnTo>
                  <a:pt x="80949" y="7150"/>
                </a:lnTo>
                <a:lnTo>
                  <a:pt x="80949" y="91059"/>
                </a:lnTo>
                <a:lnTo>
                  <a:pt x="24790" y="7150"/>
                </a:lnTo>
                <a:lnTo>
                  <a:pt x="0" y="7150"/>
                </a:lnTo>
                <a:lnTo>
                  <a:pt x="0" y="129324"/>
                </a:lnTo>
                <a:lnTo>
                  <a:pt x="24790" y="129324"/>
                </a:lnTo>
                <a:lnTo>
                  <a:pt x="24790" y="45605"/>
                </a:lnTo>
                <a:lnTo>
                  <a:pt x="80949" y="129324"/>
                </a:lnTo>
                <a:lnTo>
                  <a:pt x="105740" y="129324"/>
                </a:lnTo>
                <a:lnTo>
                  <a:pt x="105740" y="7150"/>
                </a:lnTo>
                <a:close/>
              </a:path>
              <a:path w="732789" h="131445">
                <a:moveTo>
                  <a:pt x="221335" y="78803"/>
                </a:moveTo>
                <a:lnTo>
                  <a:pt x="205447" y="40843"/>
                </a:lnTo>
                <a:lnTo>
                  <a:pt x="195719" y="35788"/>
                </a:lnTo>
                <a:lnTo>
                  <a:pt x="195719" y="71932"/>
                </a:lnTo>
                <a:lnTo>
                  <a:pt x="149085" y="71932"/>
                </a:lnTo>
                <a:lnTo>
                  <a:pt x="166141" y="51041"/>
                </a:lnTo>
                <a:lnTo>
                  <a:pt x="178803" y="51041"/>
                </a:lnTo>
                <a:lnTo>
                  <a:pt x="195719" y="71932"/>
                </a:lnTo>
                <a:lnTo>
                  <a:pt x="195719" y="35788"/>
                </a:lnTo>
                <a:lnTo>
                  <a:pt x="192570" y="34340"/>
                </a:lnTo>
                <a:lnTo>
                  <a:pt x="186499" y="32435"/>
                </a:lnTo>
                <a:lnTo>
                  <a:pt x="179997" y="31292"/>
                </a:lnTo>
                <a:lnTo>
                  <a:pt x="172974" y="30911"/>
                </a:lnTo>
                <a:lnTo>
                  <a:pt x="165925" y="31292"/>
                </a:lnTo>
                <a:lnTo>
                  <a:pt x="129933" y="54483"/>
                </a:lnTo>
                <a:lnTo>
                  <a:pt x="123837" y="82296"/>
                </a:lnTo>
                <a:lnTo>
                  <a:pt x="124155" y="88087"/>
                </a:lnTo>
                <a:lnTo>
                  <a:pt x="147612" y="124675"/>
                </a:lnTo>
                <a:lnTo>
                  <a:pt x="173012" y="130898"/>
                </a:lnTo>
                <a:lnTo>
                  <a:pt x="181457" y="130327"/>
                </a:lnTo>
                <a:lnTo>
                  <a:pt x="213321" y="110617"/>
                </a:lnTo>
                <a:lnTo>
                  <a:pt x="216281" y="105613"/>
                </a:lnTo>
                <a:lnTo>
                  <a:pt x="218897" y="98933"/>
                </a:lnTo>
                <a:lnTo>
                  <a:pt x="192176" y="98933"/>
                </a:lnTo>
                <a:lnTo>
                  <a:pt x="188239" y="106718"/>
                </a:lnTo>
                <a:lnTo>
                  <a:pt x="181724" y="110617"/>
                </a:lnTo>
                <a:lnTo>
                  <a:pt x="166141" y="110617"/>
                </a:lnTo>
                <a:lnTo>
                  <a:pt x="160756" y="108635"/>
                </a:lnTo>
                <a:lnTo>
                  <a:pt x="152019" y="100723"/>
                </a:lnTo>
                <a:lnTo>
                  <a:pt x="149542" y="95250"/>
                </a:lnTo>
                <a:lnTo>
                  <a:pt x="148945" y="88252"/>
                </a:lnTo>
                <a:lnTo>
                  <a:pt x="220611" y="88252"/>
                </a:lnTo>
                <a:lnTo>
                  <a:pt x="221119" y="85445"/>
                </a:lnTo>
                <a:lnTo>
                  <a:pt x="221335" y="82296"/>
                </a:lnTo>
                <a:lnTo>
                  <a:pt x="221335" y="78803"/>
                </a:lnTo>
                <a:close/>
              </a:path>
              <a:path w="732789" h="131445">
                <a:moveTo>
                  <a:pt x="290322" y="32524"/>
                </a:moveTo>
                <a:lnTo>
                  <a:pt x="268376" y="32524"/>
                </a:lnTo>
                <a:lnTo>
                  <a:pt x="268376" y="8572"/>
                </a:lnTo>
                <a:lnTo>
                  <a:pt x="243382" y="8572"/>
                </a:lnTo>
                <a:lnTo>
                  <a:pt x="243382" y="32524"/>
                </a:lnTo>
                <a:lnTo>
                  <a:pt x="231660" y="32524"/>
                </a:lnTo>
                <a:lnTo>
                  <a:pt x="231660" y="52616"/>
                </a:lnTo>
                <a:lnTo>
                  <a:pt x="243382" y="52616"/>
                </a:lnTo>
                <a:lnTo>
                  <a:pt x="243382" y="99263"/>
                </a:lnTo>
                <a:lnTo>
                  <a:pt x="245351" y="112420"/>
                </a:lnTo>
                <a:lnTo>
                  <a:pt x="251244" y="121818"/>
                </a:lnTo>
                <a:lnTo>
                  <a:pt x="261048" y="127444"/>
                </a:lnTo>
                <a:lnTo>
                  <a:pt x="274764" y="129324"/>
                </a:lnTo>
                <a:lnTo>
                  <a:pt x="290322" y="129324"/>
                </a:lnTo>
                <a:lnTo>
                  <a:pt x="290322" y="108712"/>
                </a:lnTo>
                <a:lnTo>
                  <a:pt x="275056" y="108712"/>
                </a:lnTo>
                <a:lnTo>
                  <a:pt x="272364" y="108000"/>
                </a:lnTo>
                <a:lnTo>
                  <a:pt x="269163" y="105079"/>
                </a:lnTo>
                <a:lnTo>
                  <a:pt x="268376" y="102717"/>
                </a:lnTo>
                <a:lnTo>
                  <a:pt x="268376" y="52616"/>
                </a:lnTo>
                <a:lnTo>
                  <a:pt x="290322" y="52616"/>
                </a:lnTo>
                <a:lnTo>
                  <a:pt x="290322" y="32524"/>
                </a:lnTo>
                <a:close/>
              </a:path>
              <a:path w="732789" h="131445">
                <a:moveTo>
                  <a:pt x="444309" y="32486"/>
                </a:moveTo>
                <a:lnTo>
                  <a:pt x="420522" y="32486"/>
                </a:lnTo>
                <a:lnTo>
                  <a:pt x="403161" y="106045"/>
                </a:lnTo>
                <a:lnTo>
                  <a:pt x="384733" y="32486"/>
                </a:lnTo>
                <a:lnTo>
                  <a:pt x="358508" y="32486"/>
                </a:lnTo>
                <a:lnTo>
                  <a:pt x="339763" y="106235"/>
                </a:lnTo>
                <a:lnTo>
                  <a:pt x="322402" y="32486"/>
                </a:lnTo>
                <a:lnTo>
                  <a:pt x="297256" y="32486"/>
                </a:lnTo>
                <a:lnTo>
                  <a:pt x="326110" y="129324"/>
                </a:lnTo>
                <a:lnTo>
                  <a:pt x="353060" y="129324"/>
                </a:lnTo>
                <a:lnTo>
                  <a:pt x="370954" y="61683"/>
                </a:lnTo>
                <a:lnTo>
                  <a:pt x="388823" y="129324"/>
                </a:lnTo>
                <a:lnTo>
                  <a:pt x="415582" y="129324"/>
                </a:lnTo>
                <a:lnTo>
                  <a:pt x="444309" y="32486"/>
                </a:lnTo>
                <a:close/>
              </a:path>
              <a:path w="732789" h="131445">
                <a:moveTo>
                  <a:pt x="552526" y="80899"/>
                </a:moveTo>
                <a:lnTo>
                  <a:pt x="535432" y="41249"/>
                </a:lnTo>
                <a:lnTo>
                  <a:pt x="527024" y="36779"/>
                </a:lnTo>
                <a:lnTo>
                  <a:pt x="527024" y="71691"/>
                </a:lnTo>
                <a:lnTo>
                  <a:pt x="527024" y="87083"/>
                </a:lnTo>
                <a:lnTo>
                  <a:pt x="505802" y="109575"/>
                </a:lnTo>
                <a:lnTo>
                  <a:pt x="494245" y="109575"/>
                </a:lnTo>
                <a:lnTo>
                  <a:pt x="488442" y="107137"/>
                </a:lnTo>
                <a:lnTo>
                  <a:pt x="487654" y="106349"/>
                </a:lnTo>
                <a:lnTo>
                  <a:pt x="479018" y="97205"/>
                </a:lnTo>
                <a:lnTo>
                  <a:pt x="476707" y="90119"/>
                </a:lnTo>
                <a:lnTo>
                  <a:pt x="476707" y="71691"/>
                </a:lnTo>
                <a:lnTo>
                  <a:pt x="479069" y="64643"/>
                </a:lnTo>
                <a:lnTo>
                  <a:pt x="488670" y="54711"/>
                </a:lnTo>
                <a:lnTo>
                  <a:pt x="494626" y="52235"/>
                </a:lnTo>
                <a:lnTo>
                  <a:pt x="508749" y="52235"/>
                </a:lnTo>
                <a:lnTo>
                  <a:pt x="514769" y="54711"/>
                </a:lnTo>
                <a:lnTo>
                  <a:pt x="524560" y="64643"/>
                </a:lnTo>
                <a:lnTo>
                  <a:pt x="527024" y="71691"/>
                </a:lnTo>
                <a:lnTo>
                  <a:pt x="527024" y="36779"/>
                </a:lnTo>
                <a:lnTo>
                  <a:pt x="521830" y="34391"/>
                </a:lnTo>
                <a:lnTo>
                  <a:pt x="515581" y="32435"/>
                </a:lnTo>
                <a:lnTo>
                  <a:pt x="508977" y="31267"/>
                </a:lnTo>
                <a:lnTo>
                  <a:pt x="502043" y="30873"/>
                </a:lnTo>
                <a:lnTo>
                  <a:pt x="495109" y="31267"/>
                </a:lnTo>
                <a:lnTo>
                  <a:pt x="458190" y="54711"/>
                </a:lnTo>
                <a:lnTo>
                  <a:pt x="451561" y="80899"/>
                </a:lnTo>
                <a:lnTo>
                  <a:pt x="451904" y="87083"/>
                </a:lnTo>
                <a:lnTo>
                  <a:pt x="451954" y="88125"/>
                </a:lnTo>
                <a:lnTo>
                  <a:pt x="453161" y="94907"/>
                </a:lnTo>
                <a:lnTo>
                  <a:pt x="455091" y="100952"/>
                </a:lnTo>
                <a:lnTo>
                  <a:pt x="455180" y="101244"/>
                </a:lnTo>
                <a:lnTo>
                  <a:pt x="487794" y="129387"/>
                </a:lnTo>
                <a:lnTo>
                  <a:pt x="501307" y="130937"/>
                </a:lnTo>
                <a:lnTo>
                  <a:pt x="508215" y="130543"/>
                </a:lnTo>
                <a:lnTo>
                  <a:pt x="541972" y="112483"/>
                </a:lnTo>
                <a:lnTo>
                  <a:pt x="552094" y="88125"/>
                </a:lnTo>
                <a:lnTo>
                  <a:pt x="552526" y="80899"/>
                </a:lnTo>
                <a:close/>
              </a:path>
              <a:path w="732789" h="131445">
                <a:moveTo>
                  <a:pt x="625716" y="31102"/>
                </a:moveTo>
                <a:lnTo>
                  <a:pt x="619099" y="31102"/>
                </a:lnTo>
                <a:lnTo>
                  <a:pt x="613232" y="32562"/>
                </a:lnTo>
                <a:lnTo>
                  <a:pt x="608101" y="35445"/>
                </a:lnTo>
                <a:lnTo>
                  <a:pt x="602970" y="38366"/>
                </a:lnTo>
                <a:lnTo>
                  <a:pt x="598792" y="42379"/>
                </a:lnTo>
                <a:lnTo>
                  <a:pt x="595591" y="47510"/>
                </a:lnTo>
                <a:lnTo>
                  <a:pt x="595591" y="32486"/>
                </a:lnTo>
                <a:lnTo>
                  <a:pt x="570801" y="32486"/>
                </a:lnTo>
                <a:lnTo>
                  <a:pt x="570801" y="129362"/>
                </a:lnTo>
                <a:lnTo>
                  <a:pt x="595591" y="129362"/>
                </a:lnTo>
                <a:lnTo>
                  <a:pt x="595591" y="72136"/>
                </a:lnTo>
                <a:lnTo>
                  <a:pt x="597560" y="65836"/>
                </a:lnTo>
                <a:lnTo>
                  <a:pt x="605472" y="58610"/>
                </a:lnTo>
                <a:lnTo>
                  <a:pt x="611365" y="56807"/>
                </a:lnTo>
                <a:lnTo>
                  <a:pt x="625716" y="56807"/>
                </a:lnTo>
                <a:lnTo>
                  <a:pt x="625716" y="31102"/>
                </a:lnTo>
                <a:close/>
              </a:path>
              <a:path w="732789" h="131445">
                <a:moveTo>
                  <a:pt x="732701" y="129324"/>
                </a:moveTo>
                <a:lnTo>
                  <a:pt x="689114" y="81089"/>
                </a:lnTo>
                <a:lnTo>
                  <a:pt x="732345" y="32486"/>
                </a:lnTo>
                <a:lnTo>
                  <a:pt x="700112" y="32486"/>
                </a:lnTo>
                <a:lnTo>
                  <a:pt x="667169" y="73558"/>
                </a:lnTo>
                <a:lnTo>
                  <a:pt x="667169" y="0"/>
                </a:lnTo>
                <a:lnTo>
                  <a:pt x="642378" y="0"/>
                </a:lnTo>
                <a:lnTo>
                  <a:pt x="642378" y="129324"/>
                </a:lnTo>
                <a:lnTo>
                  <a:pt x="667169" y="129324"/>
                </a:lnTo>
                <a:lnTo>
                  <a:pt x="667169" y="88061"/>
                </a:lnTo>
                <a:lnTo>
                  <a:pt x="700430" y="129324"/>
                </a:lnTo>
                <a:lnTo>
                  <a:pt x="732701" y="129324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7812" y="551434"/>
            <a:ext cx="11936374" cy="8545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52525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9810" y="2055114"/>
            <a:ext cx="7204709" cy="413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0360" y="3649090"/>
            <a:ext cx="6431280" cy="0"/>
          </a:xfrm>
          <a:custGeom>
            <a:avLst/>
            <a:gdLst/>
            <a:ahLst/>
            <a:cxnLst/>
            <a:rect l="l" t="t" r="r" b="b"/>
            <a:pathLst>
              <a:path w="6431280">
                <a:moveTo>
                  <a:pt x="0" y="0"/>
                </a:moveTo>
                <a:lnTo>
                  <a:pt x="6431280" y="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67173" y="5565749"/>
            <a:ext cx="30575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©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IBM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Corporation.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rights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reserved.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39017" y="6373638"/>
            <a:ext cx="611505" cy="241935"/>
          </a:xfrm>
          <a:custGeom>
            <a:avLst/>
            <a:gdLst/>
            <a:ahLst/>
            <a:cxnLst/>
            <a:rect l="l" t="t" r="r" b="b"/>
            <a:pathLst>
              <a:path w="611504" h="241934">
                <a:moveTo>
                  <a:pt x="118848" y="226030"/>
                </a:moveTo>
                <a:lnTo>
                  <a:pt x="0" y="226030"/>
                </a:lnTo>
                <a:lnTo>
                  <a:pt x="0" y="241407"/>
                </a:lnTo>
                <a:lnTo>
                  <a:pt x="118848" y="241407"/>
                </a:lnTo>
                <a:lnTo>
                  <a:pt x="118848" y="226030"/>
                </a:lnTo>
                <a:close/>
              </a:path>
              <a:path w="611504" h="241934">
                <a:moveTo>
                  <a:pt x="118848" y="193741"/>
                </a:moveTo>
                <a:lnTo>
                  <a:pt x="0" y="193741"/>
                </a:lnTo>
                <a:lnTo>
                  <a:pt x="0" y="209117"/>
                </a:lnTo>
                <a:lnTo>
                  <a:pt x="118848" y="209117"/>
                </a:lnTo>
                <a:lnTo>
                  <a:pt x="118848" y="193741"/>
                </a:lnTo>
                <a:close/>
              </a:path>
              <a:path w="611504" h="241934">
                <a:moveTo>
                  <a:pt x="84891" y="161451"/>
                </a:moveTo>
                <a:lnTo>
                  <a:pt x="33957" y="161451"/>
                </a:lnTo>
                <a:lnTo>
                  <a:pt x="33957" y="176827"/>
                </a:lnTo>
                <a:lnTo>
                  <a:pt x="84891" y="176827"/>
                </a:lnTo>
                <a:lnTo>
                  <a:pt x="84891" y="161451"/>
                </a:lnTo>
                <a:close/>
              </a:path>
              <a:path w="611504" h="241934">
                <a:moveTo>
                  <a:pt x="84891" y="129161"/>
                </a:moveTo>
                <a:lnTo>
                  <a:pt x="33956" y="129161"/>
                </a:lnTo>
                <a:lnTo>
                  <a:pt x="33956" y="144537"/>
                </a:lnTo>
                <a:lnTo>
                  <a:pt x="84891" y="144537"/>
                </a:lnTo>
                <a:lnTo>
                  <a:pt x="84891" y="129161"/>
                </a:lnTo>
                <a:close/>
              </a:path>
              <a:path w="611504" h="241934">
                <a:moveTo>
                  <a:pt x="84891" y="96869"/>
                </a:moveTo>
                <a:lnTo>
                  <a:pt x="33956" y="96869"/>
                </a:lnTo>
                <a:lnTo>
                  <a:pt x="33956" y="112246"/>
                </a:lnTo>
                <a:lnTo>
                  <a:pt x="84891" y="112246"/>
                </a:lnTo>
                <a:lnTo>
                  <a:pt x="84891" y="96869"/>
                </a:lnTo>
                <a:close/>
              </a:path>
              <a:path w="611504" h="241934">
                <a:moveTo>
                  <a:pt x="84891" y="64579"/>
                </a:moveTo>
                <a:lnTo>
                  <a:pt x="33956" y="64579"/>
                </a:lnTo>
                <a:lnTo>
                  <a:pt x="33956" y="79956"/>
                </a:lnTo>
                <a:lnTo>
                  <a:pt x="84891" y="79956"/>
                </a:lnTo>
                <a:lnTo>
                  <a:pt x="84891" y="64579"/>
                </a:lnTo>
                <a:close/>
              </a:path>
              <a:path w="611504" h="241934">
                <a:moveTo>
                  <a:pt x="118848" y="32289"/>
                </a:moveTo>
                <a:lnTo>
                  <a:pt x="0" y="32289"/>
                </a:lnTo>
                <a:lnTo>
                  <a:pt x="0" y="47666"/>
                </a:lnTo>
                <a:lnTo>
                  <a:pt x="118848" y="47666"/>
                </a:lnTo>
                <a:lnTo>
                  <a:pt x="118848" y="32289"/>
                </a:lnTo>
                <a:close/>
              </a:path>
              <a:path w="611504" h="241934">
                <a:moveTo>
                  <a:pt x="118847" y="0"/>
                </a:moveTo>
                <a:lnTo>
                  <a:pt x="0" y="0"/>
                </a:lnTo>
                <a:lnTo>
                  <a:pt x="0" y="15376"/>
                </a:lnTo>
                <a:lnTo>
                  <a:pt x="118847" y="15376"/>
                </a:lnTo>
                <a:lnTo>
                  <a:pt x="118847" y="0"/>
                </a:lnTo>
                <a:close/>
              </a:path>
              <a:path w="611504" h="241934">
                <a:moveTo>
                  <a:pt x="302818" y="226030"/>
                </a:moveTo>
                <a:lnTo>
                  <a:pt x="135826" y="226030"/>
                </a:lnTo>
                <a:lnTo>
                  <a:pt x="135826" y="241407"/>
                </a:lnTo>
                <a:lnTo>
                  <a:pt x="260848" y="241407"/>
                </a:lnTo>
                <a:lnTo>
                  <a:pt x="272565" y="240352"/>
                </a:lnTo>
                <a:lnTo>
                  <a:pt x="283589" y="237311"/>
                </a:lnTo>
                <a:lnTo>
                  <a:pt x="293735" y="232475"/>
                </a:lnTo>
                <a:lnTo>
                  <a:pt x="302818" y="226030"/>
                </a:lnTo>
                <a:close/>
              </a:path>
              <a:path w="611504" h="241934">
                <a:moveTo>
                  <a:pt x="323423" y="193741"/>
                </a:moveTo>
                <a:lnTo>
                  <a:pt x="135826" y="193741"/>
                </a:lnTo>
                <a:lnTo>
                  <a:pt x="135826" y="209117"/>
                </a:lnTo>
                <a:lnTo>
                  <a:pt x="316979" y="209117"/>
                </a:lnTo>
                <a:lnTo>
                  <a:pt x="319758" y="204350"/>
                </a:lnTo>
                <a:lnTo>
                  <a:pt x="321944" y="199184"/>
                </a:lnTo>
                <a:lnTo>
                  <a:pt x="323423" y="193741"/>
                </a:lnTo>
                <a:close/>
              </a:path>
              <a:path w="611504" h="241934">
                <a:moveTo>
                  <a:pt x="220718" y="161451"/>
                </a:moveTo>
                <a:lnTo>
                  <a:pt x="169783" y="161451"/>
                </a:lnTo>
                <a:lnTo>
                  <a:pt x="169783" y="176827"/>
                </a:lnTo>
                <a:lnTo>
                  <a:pt x="220718" y="176827"/>
                </a:lnTo>
                <a:lnTo>
                  <a:pt x="220718" y="161451"/>
                </a:lnTo>
                <a:close/>
              </a:path>
              <a:path w="611504" h="241934">
                <a:moveTo>
                  <a:pt x="316966" y="96869"/>
                </a:moveTo>
                <a:lnTo>
                  <a:pt x="169783" y="96869"/>
                </a:lnTo>
                <a:lnTo>
                  <a:pt x="169783" y="112246"/>
                </a:lnTo>
                <a:lnTo>
                  <a:pt x="304515" y="112246"/>
                </a:lnTo>
                <a:lnTo>
                  <a:pt x="309403" y="107786"/>
                </a:lnTo>
                <a:lnTo>
                  <a:pt x="313622" y="102623"/>
                </a:lnTo>
                <a:lnTo>
                  <a:pt x="316966" y="96869"/>
                </a:lnTo>
                <a:close/>
              </a:path>
              <a:path w="611504" h="241934">
                <a:moveTo>
                  <a:pt x="316979" y="32289"/>
                </a:moveTo>
                <a:lnTo>
                  <a:pt x="135826" y="32289"/>
                </a:lnTo>
                <a:lnTo>
                  <a:pt x="135826" y="47666"/>
                </a:lnTo>
                <a:lnTo>
                  <a:pt x="323423" y="47666"/>
                </a:lnTo>
                <a:lnTo>
                  <a:pt x="321944" y="42220"/>
                </a:lnTo>
                <a:lnTo>
                  <a:pt x="319757" y="37056"/>
                </a:lnTo>
                <a:lnTo>
                  <a:pt x="316979" y="32289"/>
                </a:lnTo>
                <a:close/>
              </a:path>
              <a:path w="611504" h="241934">
                <a:moveTo>
                  <a:pt x="220717" y="64579"/>
                </a:moveTo>
                <a:lnTo>
                  <a:pt x="169782" y="64579"/>
                </a:lnTo>
                <a:lnTo>
                  <a:pt x="169782" y="79956"/>
                </a:lnTo>
                <a:lnTo>
                  <a:pt x="220717" y="79956"/>
                </a:lnTo>
                <a:lnTo>
                  <a:pt x="220717" y="64579"/>
                </a:lnTo>
                <a:close/>
              </a:path>
              <a:path w="611504" h="241934">
                <a:moveTo>
                  <a:pt x="325674" y="64579"/>
                </a:moveTo>
                <a:lnTo>
                  <a:pt x="268565" y="64579"/>
                </a:lnTo>
                <a:lnTo>
                  <a:pt x="268565" y="79956"/>
                </a:lnTo>
                <a:lnTo>
                  <a:pt x="323796" y="79956"/>
                </a:lnTo>
                <a:lnTo>
                  <a:pt x="324992" y="75022"/>
                </a:lnTo>
                <a:lnTo>
                  <a:pt x="325674" y="69884"/>
                </a:lnTo>
                <a:lnTo>
                  <a:pt x="325674" y="64579"/>
                </a:lnTo>
                <a:close/>
              </a:path>
              <a:path w="611504" h="241934">
                <a:moveTo>
                  <a:pt x="323796" y="161451"/>
                </a:moveTo>
                <a:lnTo>
                  <a:pt x="268565" y="161451"/>
                </a:lnTo>
                <a:lnTo>
                  <a:pt x="268565" y="176827"/>
                </a:lnTo>
                <a:lnTo>
                  <a:pt x="325674" y="176827"/>
                </a:lnTo>
                <a:lnTo>
                  <a:pt x="325674" y="171522"/>
                </a:lnTo>
                <a:lnTo>
                  <a:pt x="324992" y="166386"/>
                </a:lnTo>
                <a:lnTo>
                  <a:pt x="323796" y="161451"/>
                </a:lnTo>
                <a:close/>
              </a:path>
              <a:path w="611504" h="241934">
                <a:moveTo>
                  <a:pt x="304515" y="129161"/>
                </a:moveTo>
                <a:lnTo>
                  <a:pt x="169783" y="129161"/>
                </a:lnTo>
                <a:lnTo>
                  <a:pt x="169783" y="144537"/>
                </a:lnTo>
                <a:lnTo>
                  <a:pt x="316966" y="144537"/>
                </a:lnTo>
                <a:lnTo>
                  <a:pt x="313622" y="138786"/>
                </a:lnTo>
                <a:lnTo>
                  <a:pt x="309403" y="133620"/>
                </a:lnTo>
                <a:lnTo>
                  <a:pt x="304515" y="129161"/>
                </a:lnTo>
                <a:close/>
              </a:path>
              <a:path w="611504" h="241934">
                <a:moveTo>
                  <a:pt x="260848" y="0"/>
                </a:moveTo>
                <a:lnTo>
                  <a:pt x="135826" y="0"/>
                </a:lnTo>
                <a:lnTo>
                  <a:pt x="135826" y="15376"/>
                </a:lnTo>
                <a:lnTo>
                  <a:pt x="302817" y="15376"/>
                </a:lnTo>
                <a:lnTo>
                  <a:pt x="293734" y="8935"/>
                </a:lnTo>
                <a:lnTo>
                  <a:pt x="283588" y="4098"/>
                </a:lnTo>
                <a:lnTo>
                  <a:pt x="272564" y="1056"/>
                </a:lnTo>
                <a:lnTo>
                  <a:pt x="260848" y="0"/>
                </a:lnTo>
                <a:close/>
              </a:path>
              <a:path w="611504" h="241934">
                <a:moveTo>
                  <a:pt x="424457" y="226030"/>
                </a:moveTo>
                <a:lnTo>
                  <a:pt x="339566" y="226030"/>
                </a:lnTo>
                <a:lnTo>
                  <a:pt x="339566" y="241407"/>
                </a:lnTo>
                <a:lnTo>
                  <a:pt x="424457" y="241407"/>
                </a:lnTo>
                <a:lnTo>
                  <a:pt x="424457" y="226030"/>
                </a:lnTo>
                <a:close/>
              </a:path>
              <a:path w="611504" h="241934">
                <a:moveTo>
                  <a:pt x="424457" y="193741"/>
                </a:moveTo>
                <a:lnTo>
                  <a:pt x="339566" y="193741"/>
                </a:lnTo>
                <a:lnTo>
                  <a:pt x="339566" y="209117"/>
                </a:lnTo>
                <a:lnTo>
                  <a:pt x="424457" y="209117"/>
                </a:lnTo>
                <a:lnTo>
                  <a:pt x="424457" y="193741"/>
                </a:lnTo>
                <a:close/>
              </a:path>
              <a:path w="611504" h="241934">
                <a:moveTo>
                  <a:pt x="424457" y="161451"/>
                </a:moveTo>
                <a:lnTo>
                  <a:pt x="373522" y="161451"/>
                </a:lnTo>
                <a:lnTo>
                  <a:pt x="373522" y="176827"/>
                </a:lnTo>
                <a:lnTo>
                  <a:pt x="424457" y="176827"/>
                </a:lnTo>
                <a:lnTo>
                  <a:pt x="424457" y="161451"/>
                </a:lnTo>
                <a:close/>
              </a:path>
              <a:path w="611504" h="241934">
                <a:moveTo>
                  <a:pt x="424457" y="129161"/>
                </a:moveTo>
                <a:lnTo>
                  <a:pt x="373522" y="129161"/>
                </a:lnTo>
                <a:lnTo>
                  <a:pt x="373522" y="144537"/>
                </a:lnTo>
                <a:lnTo>
                  <a:pt x="424457" y="144537"/>
                </a:lnTo>
                <a:lnTo>
                  <a:pt x="424457" y="129161"/>
                </a:lnTo>
                <a:close/>
              </a:path>
              <a:path w="611504" h="241934">
                <a:moveTo>
                  <a:pt x="611218" y="226030"/>
                </a:moveTo>
                <a:lnTo>
                  <a:pt x="526327" y="226030"/>
                </a:lnTo>
                <a:lnTo>
                  <a:pt x="526327" y="241407"/>
                </a:lnTo>
                <a:lnTo>
                  <a:pt x="611218" y="241407"/>
                </a:lnTo>
                <a:lnTo>
                  <a:pt x="611218" y="226030"/>
                </a:lnTo>
                <a:close/>
              </a:path>
              <a:path w="611504" h="241934">
                <a:moveTo>
                  <a:pt x="611218" y="193741"/>
                </a:moveTo>
                <a:lnTo>
                  <a:pt x="526327" y="193741"/>
                </a:lnTo>
                <a:lnTo>
                  <a:pt x="526327" y="209117"/>
                </a:lnTo>
                <a:lnTo>
                  <a:pt x="611218" y="209117"/>
                </a:lnTo>
                <a:lnTo>
                  <a:pt x="611218" y="193741"/>
                </a:lnTo>
                <a:close/>
              </a:path>
              <a:path w="611504" h="241934">
                <a:moveTo>
                  <a:pt x="577261" y="161451"/>
                </a:moveTo>
                <a:lnTo>
                  <a:pt x="526326" y="161451"/>
                </a:lnTo>
                <a:lnTo>
                  <a:pt x="526326" y="176827"/>
                </a:lnTo>
                <a:lnTo>
                  <a:pt x="577261" y="176827"/>
                </a:lnTo>
                <a:lnTo>
                  <a:pt x="577261" y="161451"/>
                </a:lnTo>
                <a:close/>
              </a:path>
              <a:path w="611504" h="241934">
                <a:moveTo>
                  <a:pt x="577261" y="129161"/>
                </a:moveTo>
                <a:lnTo>
                  <a:pt x="526326" y="129161"/>
                </a:lnTo>
                <a:lnTo>
                  <a:pt x="526326" y="144537"/>
                </a:lnTo>
                <a:lnTo>
                  <a:pt x="577261" y="144537"/>
                </a:lnTo>
                <a:lnTo>
                  <a:pt x="577261" y="129161"/>
                </a:lnTo>
                <a:close/>
              </a:path>
              <a:path w="611504" h="241934">
                <a:moveTo>
                  <a:pt x="577261" y="96869"/>
                </a:moveTo>
                <a:lnTo>
                  <a:pt x="481784" y="96869"/>
                </a:lnTo>
                <a:lnTo>
                  <a:pt x="476420" y="112246"/>
                </a:lnTo>
                <a:lnTo>
                  <a:pt x="521130" y="112246"/>
                </a:lnTo>
                <a:lnTo>
                  <a:pt x="526313" y="97613"/>
                </a:lnTo>
                <a:lnTo>
                  <a:pt x="577261" y="97613"/>
                </a:lnTo>
                <a:lnTo>
                  <a:pt x="577261" y="96869"/>
                </a:lnTo>
                <a:close/>
              </a:path>
              <a:path w="611504" h="241934">
                <a:moveTo>
                  <a:pt x="577261" y="97613"/>
                </a:moveTo>
                <a:lnTo>
                  <a:pt x="526313" y="97613"/>
                </a:lnTo>
                <a:lnTo>
                  <a:pt x="526313" y="112246"/>
                </a:lnTo>
                <a:lnTo>
                  <a:pt x="577261" y="112246"/>
                </a:lnTo>
                <a:lnTo>
                  <a:pt x="577261" y="97613"/>
                </a:lnTo>
                <a:close/>
              </a:path>
              <a:path w="611504" h="241934">
                <a:moveTo>
                  <a:pt x="577261" y="64579"/>
                </a:moveTo>
                <a:lnTo>
                  <a:pt x="493038" y="64579"/>
                </a:lnTo>
                <a:lnTo>
                  <a:pt x="487675" y="79956"/>
                </a:lnTo>
                <a:lnTo>
                  <a:pt x="577261" y="79956"/>
                </a:lnTo>
                <a:lnTo>
                  <a:pt x="577261" y="64579"/>
                </a:lnTo>
                <a:close/>
              </a:path>
              <a:path w="611504" h="241934">
                <a:moveTo>
                  <a:pt x="611217" y="0"/>
                </a:moveTo>
                <a:lnTo>
                  <a:pt x="515522" y="0"/>
                </a:lnTo>
                <a:lnTo>
                  <a:pt x="510171" y="15376"/>
                </a:lnTo>
                <a:lnTo>
                  <a:pt x="611217" y="15376"/>
                </a:lnTo>
                <a:lnTo>
                  <a:pt x="611217" y="0"/>
                </a:lnTo>
                <a:close/>
              </a:path>
              <a:path w="611504" h="241934">
                <a:moveTo>
                  <a:pt x="480807" y="226030"/>
                </a:moveTo>
                <a:lnTo>
                  <a:pt x="469977" y="226030"/>
                </a:lnTo>
                <a:lnTo>
                  <a:pt x="475392" y="241407"/>
                </a:lnTo>
                <a:lnTo>
                  <a:pt x="480807" y="226030"/>
                </a:lnTo>
                <a:close/>
              </a:path>
              <a:path w="611504" h="241934">
                <a:moveTo>
                  <a:pt x="492267" y="193741"/>
                </a:moveTo>
                <a:lnTo>
                  <a:pt x="458542" y="193741"/>
                </a:lnTo>
                <a:lnTo>
                  <a:pt x="463983" y="209117"/>
                </a:lnTo>
                <a:lnTo>
                  <a:pt x="486813" y="209117"/>
                </a:lnTo>
                <a:lnTo>
                  <a:pt x="492267" y="193741"/>
                </a:lnTo>
                <a:close/>
              </a:path>
              <a:path w="611504" h="241934">
                <a:moveTo>
                  <a:pt x="503714" y="161451"/>
                </a:moveTo>
                <a:lnTo>
                  <a:pt x="447094" y="161451"/>
                </a:lnTo>
                <a:lnTo>
                  <a:pt x="452548" y="176827"/>
                </a:lnTo>
                <a:lnTo>
                  <a:pt x="498261" y="176827"/>
                </a:lnTo>
                <a:lnTo>
                  <a:pt x="503714" y="161451"/>
                </a:lnTo>
                <a:close/>
              </a:path>
              <a:path w="611504" h="241934">
                <a:moveTo>
                  <a:pt x="515162" y="129161"/>
                </a:moveTo>
                <a:lnTo>
                  <a:pt x="435660" y="129161"/>
                </a:lnTo>
                <a:lnTo>
                  <a:pt x="441113" y="144537"/>
                </a:lnTo>
                <a:lnTo>
                  <a:pt x="509721" y="144537"/>
                </a:lnTo>
                <a:lnTo>
                  <a:pt x="515162" y="129161"/>
                </a:lnTo>
                <a:close/>
              </a:path>
              <a:path w="611504" h="241934">
                <a:moveTo>
                  <a:pt x="457770" y="64579"/>
                </a:moveTo>
                <a:lnTo>
                  <a:pt x="373535" y="64579"/>
                </a:lnTo>
                <a:lnTo>
                  <a:pt x="373535" y="79956"/>
                </a:lnTo>
                <a:lnTo>
                  <a:pt x="463121" y="79956"/>
                </a:lnTo>
                <a:lnTo>
                  <a:pt x="457770" y="64579"/>
                </a:lnTo>
                <a:close/>
              </a:path>
              <a:path w="611504" h="241934">
                <a:moveTo>
                  <a:pt x="611230" y="32289"/>
                </a:moveTo>
                <a:lnTo>
                  <a:pt x="504280" y="32289"/>
                </a:lnTo>
                <a:lnTo>
                  <a:pt x="498929" y="47666"/>
                </a:lnTo>
                <a:lnTo>
                  <a:pt x="611230" y="47666"/>
                </a:lnTo>
                <a:lnTo>
                  <a:pt x="611230" y="32289"/>
                </a:lnTo>
                <a:close/>
              </a:path>
              <a:path w="611504" h="241934">
                <a:moveTo>
                  <a:pt x="446515" y="32289"/>
                </a:moveTo>
                <a:lnTo>
                  <a:pt x="339578" y="32289"/>
                </a:lnTo>
                <a:lnTo>
                  <a:pt x="339578" y="47666"/>
                </a:lnTo>
                <a:lnTo>
                  <a:pt x="451866" y="47666"/>
                </a:lnTo>
                <a:lnTo>
                  <a:pt x="446515" y="32289"/>
                </a:lnTo>
                <a:close/>
              </a:path>
              <a:path w="611504" h="241934">
                <a:moveTo>
                  <a:pt x="435274" y="0"/>
                </a:moveTo>
                <a:lnTo>
                  <a:pt x="339578" y="0"/>
                </a:lnTo>
                <a:lnTo>
                  <a:pt x="339578" y="15376"/>
                </a:lnTo>
                <a:lnTo>
                  <a:pt x="440637" y="15376"/>
                </a:lnTo>
                <a:lnTo>
                  <a:pt x="435274" y="0"/>
                </a:lnTo>
                <a:close/>
              </a:path>
              <a:path w="611504" h="241934">
                <a:moveTo>
                  <a:pt x="469012" y="96869"/>
                </a:moveTo>
                <a:lnTo>
                  <a:pt x="373535" y="96869"/>
                </a:lnTo>
                <a:lnTo>
                  <a:pt x="373535" y="112246"/>
                </a:lnTo>
                <a:lnTo>
                  <a:pt x="424469" y="112246"/>
                </a:lnTo>
                <a:lnTo>
                  <a:pt x="424469" y="97651"/>
                </a:lnTo>
                <a:lnTo>
                  <a:pt x="469284" y="97651"/>
                </a:lnTo>
                <a:lnTo>
                  <a:pt x="469012" y="96869"/>
                </a:lnTo>
                <a:close/>
              </a:path>
              <a:path w="611504" h="241934">
                <a:moveTo>
                  <a:pt x="469284" y="97651"/>
                </a:moveTo>
                <a:lnTo>
                  <a:pt x="424469" y="97651"/>
                </a:lnTo>
                <a:lnTo>
                  <a:pt x="429653" y="112246"/>
                </a:lnTo>
                <a:lnTo>
                  <a:pt x="474375" y="112246"/>
                </a:lnTo>
                <a:lnTo>
                  <a:pt x="469284" y="97651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750" y="6375624"/>
            <a:ext cx="245246" cy="24197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94251" y="6414559"/>
            <a:ext cx="475615" cy="144145"/>
            <a:chOff x="594251" y="6414559"/>
            <a:chExt cx="475615" cy="1441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251" y="6414559"/>
              <a:ext cx="317477" cy="14360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31545" y="6427647"/>
              <a:ext cx="138430" cy="130810"/>
            </a:xfrm>
            <a:custGeom>
              <a:avLst/>
              <a:gdLst/>
              <a:ahLst/>
              <a:cxnLst/>
              <a:rect l="l" t="t" r="r" b="b"/>
              <a:pathLst>
                <a:path w="138430" h="130809">
                  <a:moveTo>
                    <a:pt x="34721" y="0"/>
                  </a:moveTo>
                  <a:lnTo>
                    <a:pt x="0" y="0"/>
                  </a:lnTo>
                  <a:lnTo>
                    <a:pt x="0" y="129324"/>
                  </a:lnTo>
                  <a:lnTo>
                    <a:pt x="34721" y="129324"/>
                  </a:lnTo>
                  <a:lnTo>
                    <a:pt x="34721" y="0"/>
                  </a:lnTo>
                  <a:close/>
                </a:path>
                <a:path w="138430" h="130809">
                  <a:moveTo>
                    <a:pt x="138201" y="93268"/>
                  </a:moveTo>
                  <a:lnTo>
                    <a:pt x="96240" y="68199"/>
                  </a:lnTo>
                  <a:lnTo>
                    <a:pt x="91871" y="66967"/>
                  </a:lnTo>
                  <a:lnTo>
                    <a:pt x="86461" y="64528"/>
                  </a:lnTo>
                  <a:lnTo>
                    <a:pt x="85090" y="62725"/>
                  </a:lnTo>
                  <a:lnTo>
                    <a:pt x="85090" y="58534"/>
                  </a:lnTo>
                  <a:lnTo>
                    <a:pt x="85826" y="57073"/>
                  </a:lnTo>
                  <a:lnTo>
                    <a:pt x="88773" y="54965"/>
                  </a:lnTo>
                  <a:lnTo>
                    <a:pt x="90893" y="54444"/>
                  </a:lnTo>
                  <a:lnTo>
                    <a:pt x="97447" y="54444"/>
                  </a:lnTo>
                  <a:lnTo>
                    <a:pt x="100330" y="55308"/>
                  </a:lnTo>
                  <a:lnTo>
                    <a:pt x="104724" y="58724"/>
                  </a:lnTo>
                  <a:lnTo>
                    <a:pt x="106095" y="61112"/>
                  </a:lnTo>
                  <a:lnTo>
                    <a:pt x="106692" y="64262"/>
                  </a:lnTo>
                  <a:lnTo>
                    <a:pt x="138049" y="64262"/>
                  </a:lnTo>
                  <a:lnTo>
                    <a:pt x="111874" y="32372"/>
                  </a:lnTo>
                  <a:lnTo>
                    <a:pt x="94475" y="30010"/>
                  </a:lnTo>
                  <a:lnTo>
                    <a:pt x="85725" y="30010"/>
                  </a:lnTo>
                  <a:lnTo>
                    <a:pt x="53174" y="55499"/>
                  </a:lnTo>
                  <a:lnTo>
                    <a:pt x="53174" y="68046"/>
                  </a:lnTo>
                  <a:lnTo>
                    <a:pt x="88417" y="90690"/>
                  </a:lnTo>
                  <a:lnTo>
                    <a:pt x="94653" y="92113"/>
                  </a:lnTo>
                  <a:lnTo>
                    <a:pt x="99161" y="93383"/>
                  </a:lnTo>
                  <a:lnTo>
                    <a:pt x="104571" y="95745"/>
                  </a:lnTo>
                  <a:lnTo>
                    <a:pt x="105930" y="97548"/>
                  </a:lnTo>
                  <a:lnTo>
                    <a:pt x="105930" y="101815"/>
                  </a:lnTo>
                  <a:lnTo>
                    <a:pt x="105143" y="103352"/>
                  </a:lnTo>
                  <a:lnTo>
                    <a:pt x="101854" y="105676"/>
                  </a:lnTo>
                  <a:lnTo>
                    <a:pt x="99593" y="106273"/>
                  </a:lnTo>
                  <a:lnTo>
                    <a:pt x="93078" y="106273"/>
                  </a:lnTo>
                  <a:lnTo>
                    <a:pt x="90004" y="105410"/>
                  </a:lnTo>
                  <a:lnTo>
                    <a:pt x="85001" y="101892"/>
                  </a:lnTo>
                  <a:lnTo>
                    <a:pt x="83540" y="99453"/>
                  </a:lnTo>
                  <a:lnTo>
                    <a:pt x="83070" y="96304"/>
                  </a:lnTo>
                  <a:lnTo>
                    <a:pt x="49428" y="96304"/>
                  </a:lnTo>
                  <a:lnTo>
                    <a:pt x="72898" y="126098"/>
                  </a:lnTo>
                  <a:lnTo>
                    <a:pt x="79933" y="128943"/>
                  </a:lnTo>
                  <a:lnTo>
                    <a:pt x="87947" y="130441"/>
                  </a:lnTo>
                  <a:lnTo>
                    <a:pt x="105295" y="130441"/>
                  </a:lnTo>
                  <a:lnTo>
                    <a:pt x="138201" y="106083"/>
                  </a:lnTo>
                  <a:lnTo>
                    <a:pt x="138201" y="93268"/>
                  </a:lnTo>
                  <a:close/>
                </a:path>
              </a:pathLst>
            </a:custGeom>
            <a:solidFill>
              <a:srgbClr val="893E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137627" y="6427647"/>
            <a:ext cx="732790" cy="131445"/>
          </a:xfrm>
          <a:custGeom>
            <a:avLst/>
            <a:gdLst/>
            <a:ahLst/>
            <a:cxnLst/>
            <a:rect l="l" t="t" r="r" b="b"/>
            <a:pathLst>
              <a:path w="732789" h="131445">
                <a:moveTo>
                  <a:pt x="105740" y="7150"/>
                </a:moveTo>
                <a:lnTo>
                  <a:pt x="80949" y="7150"/>
                </a:lnTo>
                <a:lnTo>
                  <a:pt x="80949" y="91059"/>
                </a:lnTo>
                <a:lnTo>
                  <a:pt x="24790" y="7150"/>
                </a:lnTo>
                <a:lnTo>
                  <a:pt x="0" y="7150"/>
                </a:lnTo>
                <a:lnTo>
                  <a:pt x="0" y="129324"/>
                </a:lnTo>
                <a:lnTo>
                  <a:pt x="24790" y="129324"/>
                </a:lnTo>
                <a:lnTo>
                  <a:pt x="24790" y="45605"/>
                </a:lnTo>
                <a:lnTo>
                  <a:pt x="80949" y="129324"/>
                </a:lnTo>
                <a:lnTo>
                  <a:pt x="105740" y="129324"/>
                </a:lnTo>
                <a:lnTo>
                  <a:pt x="105740" y="7150"/>
                </a:lnTo>
                <a:close/>
              </a:path>
              <a:path w="732789" h="131445">
                <a:moveTo>
                  <a:pt x="221335" y="78803"/>
                </a:moveTo>
                <a:lnTo>
                  <a:pt x="205447" y="40843"/>
                </a:lnTo>
                <a:lnTo>
                  <a:pt x="195719" y="35788"/>
                </a:lnTo>
                <a:lnTo>
                  <a:pt x="195719" y="71932"/>
                </a:lnTo>
                <a:lnTo>
                  <a:pt x="149085" y="71932"/>
                </a:lnTo>
                <a:lnTo>
                  <a:pt x="166141" y="51041"/>
                </a:lnTo>
                <a:lnTo>
                  <a:pt x="178803" y="51041"/>
                </a:lnTo>
                <a:lnTo>
                  <a:pt x="195719" y="71932"/>
                </a:lnTo>
                <a:lnTo>
                  <a:pt x="195719" y="35788"/>
                </a:lnTo>
                <a:lnTo>
                  <a:pt x="192570" y="34340"/>
                </a:lnTo>
                <a:lnTo>
                  <a:pt x="186499" y="32435"/>
                </a:lnTo>
                <a:lnTo>
                  <a:pt x="179997" y="31292"/>
                </a:lnTo>
                <a:lnTo>
                  <a:pt x="172974" y="30911"/>
                </a:lnTo>
                <a:lnTo>
                  <a:pt x="165925" y="31292"/>
                </a:lnTo>
                <a:lnTo>
                  <a:pt x="129933" y="54483"/>
                </a:lnTo>
                <a:lnTo>
                  <a:pt x="123837" y="82296"/>
                </a:lnTo>
                <a:lnTo>
                  <a:pt x="124155" y="88087"/>
                </a:lnTo>
                <a:lnTo>
                  <a:pt x="147612" y="124675"/>
                </a:lnTo>
                <a:lnTo>
                  <a:pt x="173012" y="130898"/>
                </a:lnTo>
                <a:lnTo>
                  <a:pt x="181457" y="130327"/>
                </a:lnTo>
                <a:lnTo>
                  <a:pt x="213321" y="110617"/>
                </a:lnTo>
                <a:lnTo>
                  <a:pt x="216281" y="105613"/>
                </a:lnTo>
                <a:lnTo>
                  <a:pt x="218897" y="98933"/>
                </a:lnTo>
                <a:lnTo>
                  <a:pt x="192176" y="98933"/>
                </a:lnTo>
                <a:lnTo>
                  <a:pt x="188239" y="106718"/>
                </a:lnTo>
                <a:lnTo>
                  <a:pt x="181724" y="110617"/>
                </a:lnTo>
                <a:lnTo>
                  <a:pt x="166141" y="110617"/>
                </a:lnTo>
                <a:lnTo>
                  <a:pt x="160756" y="108635"/>
                </a:lnTo>
                <a:lnTo>
                  <a:pt x="152019" y="100723"/>
                </a:lnTo>
                <a:lnTo>
                  <a:pt x="149542" y="95250"/>
                </a:lnTo>
                <a:lnTo>
                  <a:pt x="148945" y="88252"/>
                </a:lnTo>
                <a:lnTo>
                  <a:pt x="220611" y="88252"/>
                </a:lnTo>
                <a:lnTo>
                  <a:pt x="221119" y="85445"/>
                </a:lnTo>
                <a:lnTo>
                  <a:pt x="221335" y="82296"/>
                </a:lnTo>
                <a:lnTo>
                  <a:pt x="221335" y="78803"/>
                </a:lnTo>
                <a:close/>
              </a:path>
              <a:path w="732789" h="131445">
                <a:moveTo>
                  <a:pt x="290322" y="32524"/>
                </a:moveTo>
                <a:lnTo>
                  <a:pt x="268376" y="32524"/>
                </a:lnTo>
                <a:lnTo>
                  <a:pt x="268376" y="8572"/>
                </a:lnTo>
                <a:lnTo>
                  <a:pt x="243382" y="8572"/>
                </a:lnTo>
                <a:lnTo>
                  <a:pt x="243382" y="32524"/>
                </a:lnTo>
                <a:lnTo>
                  <a:pt x="231660" y="32524"/>
                </a:lnTo>
                <a:lnTo>
                  <a:pt x="231660" y="52616"/>
                </a:lnTo>
                <a:lnTo>
                  <a:pt x="243382" y="52616"/>
                </a:lnTo>
                <a:lnTo>
                  <a:pt x="243382" y="99263"/>
                </a:lnTo>
                <a:lnTo>
                  <a:pt x="245351" y="112420"/>
                </a:lnTo>
                <a:lnTo>
                  <a:pt x="251244" y="121818"/>
                </a:lnTo>
                <a:lnTo>
                  <a:pt x="261048" y="127444"/>
                </a:lnTo>
                <a:lnTo>
                  <a:pt x="274764" y="129324"/>
                </a:lnTo>
                <a:lnTo>
                  <a:pt x="290322" y="129324"/>
                </a:lnTo>
                <a:lnTo>
                  <a:pt x="290322" y="108712"/>
                </a:lnTo>
                <a:lnTo>
                  <a:pt x="275056" y="108712"/>
                </a:lnTo>
                <a:lnTo>
                  <a:pt x="272364" y="108000"/>
                </a:lnTo>
                <a:lnTo>
                  <a:pt x="269163" y="105079"/>
                </a:lnTo>
                <a:lnTo>
                  <a:pt x="268376" y="102717"/>
                </a:lnTo>
                <a:lnTo>
                  <a:pt x="268376" y="52616"/>
                </a:lnTo>
                <a:lnTo>
                  <a:pt x="290322" y="52616"/>
                </a:lnTo>
                <a:lnTo>
                  <a:pt x="290322" y="32524"/>
                </a:lnTo>
                <a:close/>
              </a:path>
              <a:path w="732789" h="131445">
                <a:moveTo>
                  <a:pt x="444309" y="32486"/>
                </a:moveTo>
                <a:lnTo>
                  <a:pt x="420522" y="32486"/>
                </a:lnTo>
                <a:lnTo>
                  <a:pt x="403161" y="106045"/>
                </a:lnTo>
                <a:lnTo>
                  <a:pt x="384733" y="32486"/>
                </a:lnTo>
                <a:lnTo>
                  <a:pt x="358508" y="32486"/>
                </a:lnTo>
                <a:lnTo>
                  <a:pt x="339763" y="106235"/>
                </a:lnTo>
                <a:lnTo>
                  <a:pt x="322402" y="32486"/>
                </a:lnTo>
                <a:lnTo>
                  <a:pt x="297256" y="32486"/>
                </a:lnTo>
                <a:lnTo>
                  <a:pt x="326110" y="129324"/>
                </a:lnTo>
                <a:lnTo>
                  <a:pt x="353060" y="129324"/>
                </a:lnTo>
                <a:lnTo>
                  <a:pt x="370954" y="61683"/>
                </a:lnTo>
                <a:lnTo>
                  <a:pt x="388823" y="129324"/>
                </a:lnTo>
                <a:lnTo>
                  <a:pt x="415582" y="129324"/>
                </a:lnTo>
                <a:lnTo>
                  <a:pt x="444309" y="32486"/>
                </a:lnTo>
                <a:close/>
              </a:path>
              <a:path w="732789" h="131445">
                <a:moveTo>
                  <a:pt x="552526" y="80899"/>
                </a:moveTo>
                <a:lnTo>
                  <a:pt x="535432" y="41249"/>
                </a:lnTo>
                <a:lnTo>
                  <a:pt x="527024" y="36779"/>
                </a:lnTo>
                <a:lnTo>
                  <a:pt x="527024" y="71691"/>
                </a:lnTo>
                <a:lnTo>
                  <a:pt x="527024" y="87083"/>
                </a:lnTo>
                <a:lnTo>
                  <a:pt x="505802" y="109575"/>
                </a:lnTo>
                <a:lnTo>
                  <a:pt x="494245" y="109575"/>
                </a:lnTo>
                <a:lnTo>
                  <a:pt x="488442" y="107137"/>
                </a:lnTo>
                <a:lnTo>
                  <a:pt x="487654" y="106349"/>
                </a:lnTo>
                <a:lnTo>
                  <a:pt x="479018" y="97205"/>
                </a:lnTo>
                <a:lnTo>
                  <a:pt x="476707" y="90119"/>
                </a:lnTo>
                <a:lnTo>
                  <a:pt x="476707" y="71691"/>
                </a:lnTo>
                <a:lnTo>
                  <a:pt x="479069" y="64643"/>
                </a:lnTo>
                <a:lnTo>
                  <a:pt x="488670" y="54711"/>
                </a:lnTo>
                <a:lnTo>
                  <a:pt x="494626" y="52235"/>
                </a:lnTo>
                <a:lnTo>
                  <a:pt x="508749" y="52235"/>
                </a:lnTo>
                <a:lnTo>
                  <a:pt x="514769" y="54711"/>
                </a:lnTo>
                <a:lnTo>
                  <a:pt x="524560" y="64643"/>
                </a:lnTo>
                <a:lnTo>
                  <a:pt x="527024" y="71691"/>
                </a:lnTo>
                <a:lnTo>
                  <a:pt x="527024" y="36779"/>
                </a:lnTo>
                <a:lnTo>
                  <a:pt x="521830" y="34391"/>
                </a:lnTo>
                <a:lnTo>
                  <a:pt x="515581" y="32435"/>
                </a:lnTo>
                <a:lnTo>
                  <a:pt x="508977" y="31267"/>
                </a:lnTo>
                <a:lnTo>
                  <a:pt x="502043" y="30873"/>
                </a:lnTo>
                <a:lnTo>
                  <a:pt x="495109" y="31267"/>
                </a:lnTo>
                <a:lnTo>
                  <a:pt x="458190" y="54711"/>
                </a:lnTo>
                <a:lnTo>
                  <a:pt x="451561" y="80899"/>
                </a:lnTo>
                <a:lnTo>
                  <a:pt x="451904" y="87083"/>
                </a:lnTo>
                <a:lnTo>
                  <a:pt x="451954" y="88125"/>
                </a:lnTo>
                <a:lnTo>
                  <a:pt x="453161" y="94907"/>
                </a:lnTo>
                <a:lnTo>
                  <a:pt x="455091" y="100952"/>
                </a:lnTo>
                <a:lnTo>
                  <a:pt x="455180" y="101244"/>
                </a:lnTo>
                <a:lnTo>
                  <a:pt x="487794" y="129387"/>
                </a:lnTo>
                <a:lnTo>
                  <a:pt x="501307" y="130937"/>
                </a:lnTo>
                <a:lnTo>
                  <a:pt x="508215" y="130543"/>
                </a:lnTo>
                <a:lnTo>
                  <a:pt x="541972" y="112483"/>
                </a:lnTo>
                <a:lnTo>
                  <a:pt x="552094" y="88125"/>
                </a:lnTo>
                <a:lnTo>
                  <a:pt x="552526" y="80899"/>
                </a:lnTo>
                <a:close/>
              </a:path>
              <a:path w="732789" h="131445">
                <a:moveTo>
                  <a:pt x="625716" y="31102"/>
                </a:moveTo>
                <a:lnTo>
                  <a:pt x="619099" y="31102"/>
                </a:lnTo>
                <a:lnTo>
                  <a:pt x="613232" y="32562"/>
                </a:lnTo>
                <a:lnTo>
                  <a:pt x="608101" y="35445"/>
                </a:lnTo>
                <a:lnTo>
                  <a:pt x="602970" y="38366"/>
                </a:lnTo>
                <a:lnTo>
                  <a:pt x="598792" y="42379"/>
                </a:lnTo>
                <a:lnTo>
                  <a:pt x="595591" y="47510"/>
                </a:lnTo>
                <a:lnTo>
                  <a:pt x="595591" y="32486"/>
                </a:lnTo>
                <a:lnTo>
                  <a:pt x="570801" y="32486"/>
                </a:lnTo>
                <a:lnTo>
                  <a:pt x="570801" y="129362"/>
                </a:lnTo>
                <a:lnTo>
                  <a:pt x="595591" y="129362"/>
                </a:lnTo>
                <a:lnTo>
                  <a:pt x="595591" y="72136"/>
                </a:lnTo>
                <a:lnTo>
                  <a:pt x="597560" y="65836"/>
                </a:lnTo>
                <a:lnTo>
                  <a:pt x="605472" y="58610"/>
                </a:lnTo>
                <a:lnTo>
                  <a:pt x="611365" y="56807"/>
                </a:lnTo>
                <a:lnTo>
                  <a:pt x="625716" y="56807"/>
                </a:lnTo>
                <a:lnTo>
                  <a:pt x="625716" y="31102"/>
                </a:lnTo>
                <a:close/>
              </a:path>
              <a:path w="732789" h="131445">
                <a:moveTo>
                  <a:pt x="732701" y="129324"/>
                </a:moveTo>
                <a:lnTo>
                  <a:pt x="689114" y="81089"/>
                </a:lnTo>
                <a:lnTo>
                  <a:pt x="732345" y="32486"/>
                </a:lnTo>
                <a:lnTo>
                  <a:pt x="700112" y="32486"/>
                </a:lnTo>
                <a:lnTo>
                  <a:pt x="667169" y="73558"/>
                </a:lnTo>
                <a:lnTo>
                  <a:pt x="667169" y="0"/>
                </a:lnTo>
                <a:lnTo>
                  <a:pt x="642378" y="0"/>
                </a:lnTo>
                <a:lnTo>
                  <a:pt x="642378" y="129324"/>
                </a:lnTo>
                <a:lnTo>
                  <a:pt x="667169" y="129324"/>
                </a:lnTo>
                <a:lnTo>
                  <a:pt x="667169" y="88061"/>
                </a:lnTo>
                <a:lnTo>
                  <a:pt x="700430" y="129324"/>
                </a:lnTo>
                <a:lnTo>
                  <a:pt x="732701" y="129324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2310764" y="2303475"/>
            <a:ext cx="743330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254" dirty="0"/>
              <a:t>Data</a:t>
            </a:r>
            <a:r>
              <a:rPr sz="4800" spc="60" dirty="0"/>
              <a:t> </a:t>
            </a:r>
            <a:r>
              <a:rPr sz="4800" spc="265" dirty="0"/>
              <a:t>Analyst</a:t>
            </a:r>
            <a:r>
              <a:rPr sz="4800" spc="50" dirty="0"/>
              <a:t> </a:t>
            </a:r>
            <a:r>
              <a:rPr sz="4800" spc="229" dirty="0"/>
              <a:t>Presentation</a:t>
            </a:r>
            <a:endParaRPr sz="4800" dirty="0"/>
          </a:p>
        </p:txBody>
      </p:sp>
      <p:sp>
        <p:nvSpPr>
          <p:cNvPr id="11" name="object 11"/>
          <p:cNvSpPr txBox="1"/>
          <p:nvPr/>
        </p:nvSpPr>
        <p:spPr>
          <a:xfrm>
            <a:off x="4747005" y="3733972"/>
            <a:ext cx="2223135" cy="475130"/>
          </a:xfrm>
          <a:prstGeom prst="rect">
            <a:avLst/>
          </a:prstGeom>
        </p:spPr>
        <p:txBody>
          <a:bodyPr vert="horz" wrap="square" lIns="0" tIns="104775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2400" spc="165" dirty="0">
                <a:solidFill>
                  <a:srgbClr val="525252"/>
                </a:solidFill>
                <a:latin typeface="Calibri"/>
                <a:cs typeface="Calibri"/>
              </a:rPr>
              <a:t>JoAnne</a:t>
            </a:r>
            <a:r>
              <a:rPr sz="2400" spc="1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400" spc="95" dirty="0">
                <a:solidFill>
                  <a:srgbClr val="525252"/>
                </a:solidFill>
                <a:latin typeface="Calibri"/>
                <a:cs typeface="Calibri"/>
              </a:rPr>
              <a:t>Hatcher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296669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0721" y="2025650"/>
            <a:ext cx="3194557" cy="319455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5490">
              <a:lnSpc>
                <a:spcPct val="100000"/>
              </a:lnSpc>
              <a:spcBef>
                <a:spcPts val="95"/>
              </a:spcBef>
            </a:pPr>
            <a:r>
              <a:rPr spc="30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51828" y="1715160"/>
            <a:ext cx="3129915" cy="395986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4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110" dirty="0">
                <a:solidFill>
                  <a:srgbClr val="252525"/>
                </a:solidFill>
                <a:latin typeface="Calibri"/>
                <a:cs typeface="Calibri"/>
              </a:rPr>
              <a:t>Executive</a:t>
            </a:r>
            <a:r>
              <a:rPr sz="2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200" spc="110" dirty="0">
                <a:solidFill>
                  <a:srgbClr val="252525"/>
                </a:solidFill>
                <a:latin typeface="Calibri"/>
                <a:cs typeface="Calibri"/>
              </a:rPr>
              <a:t>Summary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85" dirty="0">
                <a:solidFill>
                  <a:srgbClr val="252525"/>
                </a:solidFill>
                <a:latin typeface="Calibri"/>
                <a:cs typeface="Calibri"/>
              </a:rPr>
              <a:t>Introduction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55" dirty="0">
                <a:solidFill>
                  <a:srgbClr val="252525"/>
                </a:solidFill>
                <a:latin typeface="Calibri"/>
                <a:cs typeface="Calibri"/>
              </a:rPr>
              <a:t>Methodology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114" dirty="0">
                <a:solidFill>
                  <a:srgbClr val="252525"/>
                </a:solidFill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65" dirty="0">
                <a:solidFill>
                  <a:srgbClr val="252525"/>
                </a:solidFill>
                <a:latin typeface="Calibri"/>
                <a:cs typeface="Calibri"/>
              </a:rPr>
              <a:t>Visualization</a:t>
            </a:r>
            <a:r>
              <a:rPr sz="18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spc="150" dirty="0">
                <a:solidFill>
                  <a:srgbClr val="252525"/>
                </a:solidFill>
                <a:latin typeface="Calibri"/>
                <a:cs typeface="Calibri"/>
              </a:rPr>
              <a:t>–</a:t>
            </a:r>
            <a:r>
              <a:rPr sz="18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spc="75" dirty="0">
                <a:solidFill>
                  <a:srgbClr val="252525"/>
                </a:solidFill>
                <a:latin typeface="Calibri"/>
                <a:cs typeface="Calibri"/>
              </a:rPr>
              <a:t>Charts</a:t>
            </a:r>
            <a:endParaRPr sz="1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75" dirty="0">
                <a:solidFill>
                  <a:srgbClr val="252525"/>
                </a:solidFill>
                <a:latin typeface="Calibri"/>
                <a:cs typeface="Calibri"/>
              </a:rPr>
              <a:t>Dashboard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110" dirty="0">
                <a:solidFill>
                  <a:srgbClr val="252525"/>
                </a:solidFill>
                <a:latin typeface="Calibri"/>
                <a:cs typeface="Calibri"/>
              </a:rPr>
              <a:t>Discussion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697865" algn="l"/>
              </a:tabLst>
            </a:pPr>
            <a:r>
              <a:rPr sz="1800" spc="85" dirty="0">
                <a:solidFill>
                  <a:srgbClr val="252525"/>
                </a:solidFill>
                <a:latin typeface="Calibri"/>
                <a:cs typeface="Calibri"/>
              </a:rPr>
              <a:t>Findings</a:t>
            </a:r>
            <a:r>
              <a:rPr sz="18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52525"/>
                </a:solidFill>
                <a:latin typeface="Calibri"/>
                <a:cs typeface="Calibri"/>
              </a:rPr>
              <a:t>&amp;</a:t>
            </a:r>
            <a:r>
              <a:rPr sz="18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800" spc="85" dirty="0">
                <a:solidFill>
                  <a:srgbClr val="252525"/>
                </a:solidFill>
                <a:latin typeface="Calibri"/>
                <a:cs typeface="Calibri"/>
              </a:rPr>
              <a:t>Implications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95" dirty="0">
                <a:solidFill>
                  <a:srgbClr val="252525"/>
                </a:solidFill>
                <a:latin typeface="Calibri"/>
                <a:cs typeface="Calibri"/>
              </a:rPr>
              <a:t>Conclusion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240665" algn="l"/>
              </a:tabLst>
            </a:pPr>
            <a:r>
              <a:rPr sz="2200" spc="95" dirty="0">
                <a:solidFill>
                  <a:srgbClr val="252525"/>
                </a:solidFill>
                <a:latin typeface="Calibri"/>
                <a:cs typeface="Calibri"/>
              </a:rPr>
              <a:t>Appendix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87066" y="580644"/>
            <a:ext cx="522733" cy="800862"/>
            <a:chOff x="1687067" y="580644"/>
            <a:chExt cx="585821" cy="800862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067" y="617220"/>
              <a:ext cx="403098" cy="7642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5979" y="580644"/>
              <a:ext cx="146909" cy="76428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5850" y="544068"/>
            <a:ext cx="1462481" cy="8619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3740" y="2497454"/>
            <a:ext cx="118872" cy="3832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8523" y="2494788"/>
            <a:ext cx="166497" cy="392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12" rIns="0" bIns="0" rtlCol="0">
            <a:spAutoFit/>
          </a:bodyPr>
          <a:lstStyle/>
          <a:p>
            <a:pPr marL="697230">
              <a:lnSpc>
                <a:spcPct val="100000"/>
              </a:lnSpc>
              <a:spcBef>
                <a:spcPts val="95"/>
              </a:spcBef>
            </a:pPr>
            <a:r>
              <a:rPr spc="380" dirty="0"/>
              <a:t>EXECUTIVE</a:t>
            </a:r>
            <a:r>
              <a:rPr spc="100" dirty="0"/>
              <a:t> </a:t>
            </a:r>
            <a:r>
              <a:rPr spc="170" dirty="0"/>
              <a:t>SUMMARY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97732" y="1834642"/>
            <a:ext cx="7970520" cy="418447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37490" marR="5080" indent="-224790" algn="just">
              <a:lnSpc>
                <a:spcPts val="1190"/>
              </a:lnSpc>
              <a:spcBef>
                <a:spcPts val="250"/>
              </a:spcBef>
              <a:buFont typeface="Arial"/>
              <a:buChar char="•"/>
              <a:tabLst>
                <a:tab pos="241300" algn="l"/>
              </a:tabLst>
            </a:pP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1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100" spc="3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Usage: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100" spc="3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primarily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rely</a:t>
            </a:r>
            <a:r>
              <a:rPr sz="1100" spc="3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3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small</a:t>
            </a:r>
            <a:r>
              <a:rPr sz="11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set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well-established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programming 	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languages,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sz="11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frameworks.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concentrated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around</a:t>
            </a:r>
            <a:r>
              <a:rPr sz="11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proven,</a:t>
            </a:r>
            <a:r>
              <a:rPr sz="11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scalable 	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100" spc="4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100" spc="4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1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community</a:t>
            </a:r>
            <a:r>
              <a:rPr sz="1100" spc="45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support,</a:t>
            </a:r>
            <a:r>
              <a:rPr sz="11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highlighting</a:t>
            </a:r>
            <a:r>
              <a:rPr sz="1100" spc="45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clear</a:t>
            </a:r>
            <a:r>
              <a:rPr sz="1100" spc="4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preference</a:t>
            </a:r>
            <a:r>
              <a:rPr sz="1100" spc="4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1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stable</a:t>
            </a:r>
            <a:r>
              <a:rPr sz="1100" spc="45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4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252525"/>
                </a:solidFill>
                <a:latin typeface="Calibri"/>
                <a:cs typeface="Calibri"/>
              </a:rPr>
              <a:t>industry-	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standard</a:t>
            </a:r>
            <a:r>
              <a:rPr sz="11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tools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modern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software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  <a:p>
            <a:pPr marL="237490" marR="5080" indent="-224790" algn="just">
              <a:lnSpc>
                <a:spcPct val="901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100" spc="2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100" spc="25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Trends: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100" spc="2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sz="1100" spc="2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100" spc="2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100" spc="2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modern,</a:t>
            </a:r>
            <a:r>
              <a:rPr sz="1100" spc="2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in-demand</a:t>
            </a:r>
            <a:r>
              <a:rPr sz="1100" spc="2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technologies 	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coming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year.</a:t>
            </a:r>
            <a:r>
              <a:rPr sz="1100" spc="2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Preferences</a:t>
            </a:r>
            <a:r>
              <a:rPr sz="11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highlight</a:t>
            </a:r>
            <a:r>
              <a:rPr sz="1100" spc="2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2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shift</a:t>
            </a:r>
            <a:r>
              <a:rPr sz="1100" spc="2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toward</a:t>
            </a:r>
            <a:r>
              <a:rPr sz="1100" spc="2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scalable</a:t>
            </a:r>
            <a:r>
              <a:rPr sz="1100" spc="2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r>
              <a:rPr sz="1100" spc="2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languages,</a:t>
            </a:r>
            <a:r>
              <a:rPr sz="1100" spc="2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cloud-</a:t>
            </a:r>
            <a:r>
              <a:rPr sz="1100" spc="-10" dirty="0">
                <a:solidFill>
                  <a:srgbClr val="252525"/>
                </a:solidFill>
                <a:latin typeface="Calibri"/>
                <a:cs typeface="Calibri"/>
              </a:rPr>
              <a:t>ready 	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100" spc="20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flexible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platforms</a:t>
            </a:r>
            <a:r>
              <a:rPr sz="11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frameworks.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Overall,</a:t>
            </a:r>
            <a:r>
              <a:rPr sz="1100" spc="2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2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trend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reflects</a:t>
            </a:r>
            <a:r>
              <a:rPr sz="1100" spc="20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forward-looking</a:t>
            </a:r>
            <a:r>
              <a:rPr sz="11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focus</a:t>
            </a:r>
            <a:r>
              <a:rPr sz="1100" spc="1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5" dirty="0">
                <a:solidFill>
                  <a:srgbClr val="252525"/>
                </a:solidFill>
                <a:latin typeface="Calibri"/>
                <a:cs typeface="Calibri"/>
              </a:rPr>
              <a:t>on 	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tools</a:t>
            </a:r>
            <a:r>
              <a:rPr sz="11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1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support</a:t>
            </a:r>
            <a:r>
              <a:rPr sz="11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modern,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efficient,</a:t>
            </a:r>
            <a:r>
              <a:rPr sz="11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data-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driven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application</a:t>
            </a:r>
            <a:r>
              <a:rPr sz="11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  <a:p>
            <a:pPr marL="698500" marR="7620" lvl="1" indent="-228600">
              <a:lnSpc>
                <a:spcPts val="108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</a:tabLst>
            </a:pP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Respondents</a:t>
            </a:r>
            <a:r>
              <a:rPr sz="1000" spc="3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sz="10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000" spc="3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0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000" spc="3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0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0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using</a:t>
            </a:r>
            <a:r>
              <a:rPr sz="1000" spc="3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modern,</a:t>
            </a:r>
            <a:r>
              <a:rPr sz="10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in-demand</a:t>
            </a:r>
            <a:r>
              <a:rPr sz="1000" spc="3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r>
              <a:rPr sz="10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000" spc="3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52525"/>
                </a:solidFill>
                <a:latin typeface="Calibri"/>
                <a:cs typeface="Calibri"/>
              </a:rPr>
              <a:t>next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year,</a:t>
            </a:r>
            <a:r>
              <a:rPr sz="10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indicating</a:t>
            </a:r>
            <a:r>
              <a:rPr sz="10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a focus</a:t>
            </a:r>
            <a:r>
              <a:rPr sz="10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000" spc="60" dirty="0">
                <a:solidFill>
                  <a:srgbClr val="252525"/>
                </a:solidFill>
                <a:latin typeface="Calibri"/>
                <a:cs typeface="Calibri"/>
              </a:rPr>
              <a:t> skills</a:t>
            </a:r>
            <a:r>
              <a:rPr sz="10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0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support</a:t>
            </a:r>
            <a:r>
              <a:rPr sz="10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scalability,</a:t>
            </a:r>
            <a:r>
              <a:rPr sz="10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performance,</a:t>
            </a:r>
            <a:r>
              <a:rPr sz="10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0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long-term</a:t>
            </a:r>
            <a:r>
              <a:rPr sz="10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252525"/>
                </a:solidFill>
                <a:latin typeface="Calibri"/>
                <a:cs typeface="Calibri"/>
              </a:rPr>
              <a:t>career</a:t>
            </a: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Calibri"/>
                <a:cs typeface="Calibri"/>
              </a:rPr>
              <a:t>growth.</a:t>
            </a:r>
            <a:endParaRPr sz="1000">
              <a:latin typeface="Calibri"/>
              <a:cs typeface="Calibri"/>
            </a:endParaRPr>
          </a:p>
          <a:p>
            <a:pPr marL="698500" marR="8255" lvl="1" indent="-228600">
              <a:lnSpc>
                <a:spcPts val="1080"/>
              </a:lnSpc>
              <a:spcBef>
                <a:spcPts val="505"/>
              </a:spcBef>
              <a:buFont typeface="Arial"/>
              <a:buChar char="•"/>
              <a:tabLst>
                <a:tab pos="698500" algn="l"/>
              </a:tabLst>
            </a:pP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000" spc="4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60" dirty="0">
                <a:solidFill>
                  <a:srgbClr val="252525"/>
                </a:solidFill>
                <a:latin typeface="Calibri"/>
                <a:cs typeface="Calibri"/>
              </a:rPr>
              <a:t>express</a:t>
            </a:r>
            <a:r>
              <a:rPr sz="1000" spc="40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growing</a:t>
            </a:r>
            <a:r>
              <a:rPr sz="1000" spc="4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000" spc="4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000" spc="40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0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000" spc="4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000" spc="4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52525"/>
                </a:solidFill>
                <a:latin typeface="Calibri"/>
                <a:cs typeface="Calibri"/>
              </a:rPr>
              <a:t>scalable</a:t>
            </a:r>
            <a:r>
              <a:rPr sz="1000" spc="4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45" dirty="0">
                <a:solidFill>
                  <a:srgbClr val="252525"/>
                </a:solidFill>
                <a:latin typeface="Calibri"/>
                <a:cs typeface="Calibri"/>
              </a:rPr>
              <a:t>database</a:t>
            </a:r>
            <a:r>
              <a:rPr sz="1000" spc="4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10" dirty="0">
                <a:solidFill>
                  <a:srgbClr val="252525"/>
                </a:solidFill>
                <a:latin typeface="Calibri"/>
                <a:cs typeface="Calibri"/>
              </a:rPr>
              <a:t>technologies,</a:t>
            </a:r>
            <a:r>
              <a:rPr sz="1000" spc="4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Calibri"/>
                <a:cs typeface="Calibri"/>
              </a:rPr>
              <a:t>reflecting </a:t>
            </a:r>
            <a:r>
              <a:rPr sz="1000" spc="45" dirty="0">
                <a:solidFill>
                  <a:srgbClr val="252525"/>
                </a:solidFill>
                <a:latin typeface="Calibri"/>
                <a:cs typeface="Calibri"/>
              </a:rPr>
              <a:t>increased</a:t>
            </a:r>
            <a:r>
              <a:rPr sz="10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demand</a:t>
            </a:r>
            <a:r>
              <a:rPr sz="1000" spc="1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0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cloud-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based,</a:t>
            </a:r>
            <a:r>
              <a:rPr sz="10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data-intensive,</a:t>
            </a:r>
            <a:r>
              <a:rPr sz="10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0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high-performance</a:t>
            </a:r>
            <a:r>
              <a:rPr sz="1000" spc="2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000" spc="1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management</a:t>
            </a:r>
            <a:r>
              <a:rPr sz="10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Calibri"/>
                <a:cs typeface="Calibri"/>
              </a:rPr>
              <a:t>solutions.</a:t>
            </a:r>
            <a:endParaRPr sz="1000">
              <a:latin typeface="Calibri"/>
              <a:cs typeface="Calibri"/>
            </a:endParaRPr>
          </a:p>
          <a:p>
            <a:pPr marL="698500" marR="6985" lvl="1" indent="-228600">
              <a:lnSpc>
                <a:spcPts val="108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</a:tabLst>
            </a:pP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Respondents</a:t>
            </a:r>
            <a:r>
              <a:rPr sz="1000" spc="4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000" spc="4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keen</a:t>
            </a:r>
            <a:r>
              <a:rPr sz="1000" spc="4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0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work</a:t>
            </a:r>
            <a:r>
              <a:rPr sz="1000" spc="4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000" spc="4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flexible,</a:t>
            </a:r>
            <a:r>
              <a:rPr sz="1000" spc="4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0" dirty="0">
                <a:solidFill>
                  <a:srgbClr val="252525"/>
                </a:solidFill>
                <a:latin typeface="Calibri"/>
                <a:cs typeface="Calibri"/>
              </a:rPr>
              <a:t>cloud-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ready</a:t>
            </a:r>
            <a:r>
              <a:rPr sz="1000" spc="4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platforms</a:t>
            </a:r>
            <a:r>
              <a:rPr sz="10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000" spc="4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support</a:t>
            </a:r>
            <a:r>
              <a:rPr sz="10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000" spc="4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Calibri"/>
                <a:cs typeface="Calibri"/>
              </a:rPr>
              <a:t>development </a:t>
            </a:r>
            <a:r>
              <a:rPr sz="1000" spc="45" dirty="0">
                <a:solidFill>
                  <a:srgbClr val="252525"/>
                </a:solidFill>
                <a:latin typeface="Calibri"/>
                <a:cs typeface="Calibri"/>
              </a:rPr>
              <a:t>practices</a:t>
            </a:r>
            <a:r>
              <a:rPr sz="10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0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improve</a:t>
            </a:r>
            <a:r>
              <a:rPr sz="10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efficiency</a:t>
            </a:r>
            <a:r>
              <a:rPr sz="10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0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20" dirty="0">
                <a:solidFill>
                  <a:srgbClr val="252525"/>
                </a:solidFill>
                <a:latin typeface="Calibri"/>
                <a:cs typeface="Calibri"/>
              </a:rPr>
              <a:t>building</a:t>
            </a:r>
            <a:r>
              <a:rPr sz="10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solidFill>
                  <a:srgbClr val="252525"/>
                </a:solidFill>
                <a:latin typeface="Calibri"/>
                <a:cs typeface="Calibri"/>
              </a:rPr>
              <a:t>scalable</a:t>
            </a:r>
            <a:r>
              <a:rPr sz="10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52525"/>
                </a:solidFill>
                <a:latin typeface="Calibri"/>
                <a:cs typeface="Calibri"/>
              </a:rPr>
              <a:t>applications.</a:t>
            </a:r>
            <a:endParaRPr sz="1000">
              <a:latin typeface="Calibri"/>
              <a:cs typeface="Calibri"/>
            </a:endParaRPr>
          </a:p>
          <a:p>
            <a:pPr marL="236854" marR="5080" indent="-224154" algn="just">
              <a:lnSpc>
                <a:spcPct val="901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Demographics</a:t>
            </a:r>
            <a:r>
              <a:rPr sz="1100" spc="15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Overview:</a:t>
            </a:r>
            <a:r>
              <a:rPr sz="1100" spc="1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survey</a:t>
            </a:r>
            <a:r>
              <a:rPr sz="1100" spc="15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respondents</a:t>
            </a:r>
            <a:r>
              <a:rPr sz="11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represent</a:t>
            </a:r>
            <a:r>
              <a:rPr sz="1100" spc="1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15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diverse,</a:t>
            </a:r>
            <a:r>
              <a:rPr sz="11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global</a:t>
            </a:r>
            <a:r>
              <a:rPr sz="1100" spc="15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community</a:t>
            </a:r>
            <a:r>
              <a:rPr sz="1100" spc="1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spanning 	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multiple</a:t>
            </a:r>
            <a:r>
              <a:rPr sz="11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countries</a:t>
            </a:r>
            <a:r>
              <a:rPr sz="11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age</a:t>
            </a:r>
            <a:r>
              <a:rPr sz="11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groups.</a:t>
            </a:r>
            <a:r>
              <a:rPr sz="11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Most</a:t>
            </a:r>
            <a:r>
              <a:rPr sz="11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participants</a:t>
            </a:r>
            <a:r>
              <a:rPr sz="11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have</a:t>
            </a:r>
            <a:r>
              <a:rPr sz="11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formal</a:t>
            </a:r>
            <a:r>
              <a:rPr sz="11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education</a:t>
            </a:r>
            <a:r>
              <a:rPr sz="11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1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technical</a:t>
            </a:r>
            <a:r>
              <a:rPr sz="11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fields,</a:t>
            </a:r>
            <a:r>
              <a:rPr sz="11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Calibri"/>
                <a:cs typeface="Calibri"/>
              </a:rPr>
              <a:t>highlighting 	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importance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structured</a:t>
            </a:r>
            <a:r>
              <a:rPr sz="11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1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252525"/>
                </a:solidFill>
                <a:latin typeface="Calibri"/>
                <a:cs typeface="Calibri"/>
              </a:rPr>
              <a:t>sector.</a:t>
            </a:r>
            <a:endParaRPr sz="1100">
              <a:latin typeface="Calibri"/>
              <a:cs typeface="Calibri"/>
            </a:endParaRPr>
          </a:p>
          <a:p>
            <a:pPr marL="237490" marR="5715" indent="-224790" algn="just">
              <a:lnSpc>
                <a:spcPts val="119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22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survey</a:t>
            </a:r>
            <a:r>
              <a:rPr sz="1100" spc="2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highlights</a:t>
            </a:r>
            <a:r>
              <a:rPr sz="1100" spc="2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balance</a:t>
            </a:r>
            <a:r>
              <a:rPr sz="1100" spc="22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between</a:t>
            </a:r>
            <a:r>
              <a:rPr sz="1100" spc="20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stability</a:t>
            </a:r>
            <a:r>
              <a:rPr sz="1100" spc="2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innovation:</a:t>
            </a:r>
            <a:r>
              <a:rPr sz="1100" spc="2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100" spc="2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continue</a:t>
            </a:r>
            <a:r>
              <a:rPr sz="1100" spc="22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1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rely</a:t>
            </a:r>
            <a:r>
              <a:rPr sz="1100" spc="20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100" spc="2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Calibri"/>
                <a:cs typeface="Calibri"/>
              </a:rPr>
              <a:t>proven 	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while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actively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seeking</a:t>
            </a:r>
            <a:r>
              <a:rPr sz="1100" spc="3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learn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tools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projects.</a:t>
            </a:r>
            <a:r>
              <a:rPr sz="1100" spc="3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These</a:t>
            </a:r>
            <a:r>
              <a:rPr sz="1100" spc="3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r>
              <a:rPr sz="1100" spc="3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52525"/>
                </a:solidFill>
                <a:latin typeface="Calibri"/>
                <a:cs typeface="Calibri"/>
              </a:rPr>
              <a:t>guide 	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strategy,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development,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training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initiatives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align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1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evolving</a:t>
            </a:r>
            <a:r>
              <a:rPr sz="11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100" spc="-10" dirty="0">
                <a:solidFill>
                  <a:srgbClr val="252525"/>
                </a:solidFill>
                <a:latin typeface="Calibri"/>
                <a:cs typeface="Calibri"/>
              </a:rPr>
              <a:t>industry 	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demands.</a:t>
            </a:r>
            <a:endParaRPr sz="1100">
              <a:latin typeface="Calibri"/>
              <a:cs typeface="Calibri"/>
            </a:endParaRPr>
          </a:p>
          <a:p>
            <a:pPr marL="237490" marR="5080" indent="-224790" algn="just">
              <a:lnSpc>
                <a:spcPct val="901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1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survey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underscores</a:t>
            </a:r>
            <a:r>
              <a:rPr sz="11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developer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community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values</a:t>
            </a:r>
            <a:r>
              <a:rPr sz="1100" spc="3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1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r>
              <a:rPr sz="11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100" spc="3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continuous 	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learning.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100" spc="1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emphasizes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stability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efficiency,</a:t>
            </a:r>
            <a:r>
              <a:rPr sz="1100" spc="2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while</a:t>
            </a:r>
            <a:r>
              <a:rPr sz="1100" spc="1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1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r>
              <a:rPr sz="1100" spc="2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highlight</a:t>
            </a:r>
            <a:r>
              <a:rPr sz="1100" spc="1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adaptability</a:t>
            </a:r>
            <a:r>
              <a:rPr sz="11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and 	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skill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growth,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providing </a:t>
            </a:r>
            <a:r>
              <a:rPr sz="1100" spc="60" dirty="0">
                <a:solidFill>
                  <a:srgbClr val="252525"/>
                </a:solidFill>
                <a:latin typeface="Calibri"/>
                <a:cs typeface="Calibri"/>
              </a:rPr>
              <a:t>a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clear</a:t>
            </a:r>
            <a:r>
              <a:rPr sz="11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252525"/>
                </a:solidFill>
                <a:latin typeface="Calibri"/>
                <a:cs typeface="Calibri"/>
              </a:rPr>
              <a:t>roadmap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1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0" dirty="0">
                <a:solidFill>
                  <a:srgbClr val="252525"/>
                </a:solidFill>
                <a:latin typeface="Calibri"/>
                <a:cs typeface="Calibri"/>
              </a:rPr>
              <a:t>adoption</a:t>
            </a:r>
            <a:r>
              <a:rPr sz="11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1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45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1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100" spc="35" dirty="0">
                <a:solidFill>
                  <a:srgbClr val="252525"/>
                </a:solidFill>
                <a:latin typeface="Calibri"/>
                <a:cs typeface="Calibri"/>
              </a:rPr>
              <a:t>development.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773" y="1607439"/>
            <a:ext cx="3194558" cy="3194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733425">
              <a:lnSpc>
                <a:spcPct val="100000"/>
              </a:lnSpc>
              <a:spcBef>
                <a:spcPts val="95"/>
              </a:spcBef>
            </a:pPr>
            <a:r>
              <a:rPr spc="305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346" y="2261997"/>
            <a:ext cx="3054350" cy="3054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64482" y="1825498"/>
            <a:ext cx="6912609" cy="352932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0029" marR="5080" indent="-227329" algn="just">
              <a:lnSpc>
                <a:spcPts val="1510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1400" spc="2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report</a:t>
            </a:r>
            <a:r>
              <a:rPr sz="1400" spc="2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presents</a:t>
            </a:r>
            <a:r>
              <a:rPr sz="1400" spc="2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</a:t>
            </a:r>
            <a:r>
              <a:rPr sz="1400" spc="2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analysis</a:t>
            </a:r>
            <a:r>
              <a:rPr sz="1400" spc="25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400" spc="2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1400" spc="2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developer</a:t>
            </a:r>
            <a:r>
              <a:rPr sz="1400" spc="2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survey,</a:t>
            </a:r>
            <a:r>
              <a:rPr sz="1400" spc="2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focusing</a:t>
            </a:r>
            <a:r>
              <a:rPr sz="1400" spc="2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on</a:t>
            </a:r>
            <a:r>
              <a:rPr sz="1400" spc="2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current</a:t>
            </a:r>
            <a:r>
              <a:rPr sz="1400" spc="2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technology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usage,</a:t>
            </a:r>
            <a:r>
              <a:rPr sz="1400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future</a:t>
            </a:r>
            <a:r>
              <a:rPr sz="1400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trends,</a:t>
            </a:r>
            <a:r>
              <a:rPr sz="1400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respondent</a:t>
            </a:r>
            <a:r>
              <a:rPr sz="1400" spc="1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demographics.</a:t>
            </a:r>
            <a:r>
              <a:rPr sz="1400" spc="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Its</a:t>
            </a:r>
            <a:r>
              <a:rPr sz="1400" spc="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purpose</a:t>
            </a:r>
            <a:r>
              <a:rPr sz="1400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1400" spc="11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provide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actionable</a:t>
            </a:r>
            <a:r>
              <a:rPr sz="1400" spc="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insights</a:t>
            </a:r>
            <a:r>
              <a:rPr sz="1400" spc="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into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tools,</a:t>
            </a:r>
            <a:r>
              <a:rPr sz="1400" spc="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platforms,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skills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developers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currently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use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those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they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aim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adopt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4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near</a:t>
            </a:r>
            <a:r>
              <a:rPr sz="1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future.</a:t>
            </a:r>
            <a:endParaRPr sz="1400">
              <a:latin typeface="Calibri"/>
              <a:cs typeface="Calibri"/>
            </a:endParaRPr>
          </a:p>
          <a:p>
            <a:pPr marL="240029" marR="6985" indent="-227329" algn="just">
              <a:lnSpc>
                <a:spcPct val="9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target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audience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includes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managers,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team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leads,</a:t>
            </a:r>
            <a:r>
              <a:rPr sz="1400" spc="17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HR</a:t>
            </a:r>
            <a:r>
              <a:rPr sz="1400" spc="17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17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training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professionals,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organizations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planning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adoption</a:t>
            </a:r>
            <a:r>
              <a:rPr sz="1400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workforce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development 	strategies.</a:t>
            </a:r>
            <a:endParaRPr sz="1400">
              <a:latin typeface="Calibri"/>
              <a:cs typeface="Calibri"/>
            </a:endParaRPr>
          </a:p>
          <a:p>
            <a:pPr marL="240029" marR="5715" indent="-227329" algn="just">
              <a:lnSpc>
                <a:spcPct val="897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report’s</a:t>
            </a:r>
            <a:r>
              <a:rPr sz="1400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value</a:t>
            </a:r>
            <a:r>
              <a:rPr sz="1400" spc="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lies</a:t>
            </a:r>
            <a:r>
              <a:rPr sz="1400" spc="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400" spc="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highlighting</a:t>
            </a:r>
            <a:r>
              <a:rPr sz="1400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patterns</a:t>
            </a:r>
            <a:r>
              <a:rPr sz="1400" spc="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400" spc="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preferences,</a:t>
            </a:r>
            <a:r>
              <a:rPr sz="1400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emerging</a:t>
            </a:r>
            <a:r>
              <a:rPr sz="1400" spc="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trends,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4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skill</a:t>
            </a:r>
            <a:r>
              <a:rPr sz="1400" spc="48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gaps,</a:t>
            </a:r>
            <a:r>
              <a:rPr sz="1400" spc="4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enabling</a:t>
            </a:r>
            <a:r>
              <a:rPr sz="1400" spc="4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informed</a:t>
            </a:r>
            <a:r>
              <a:rPr sz="1400" spc="4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decision-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making</a:t>
            </a:r>
            <a:r>
              <a:rPr sz="1400" spc="4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1400" spc="48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training</a:t>
            </a:r>
            <a:r>
              <a:rPr sz="1400" spc="484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programs,</a:t>
            </a:r>
            <a:r>
              <a:rPr sz="1400" spc="4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technology 	investments,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strategic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planning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software</a:t>
            </a:r>
            <a:r>
              <a:rPr sz="1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development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ecosystem</a:t>
            </a:r>
            <a:r>
              <a:rPr sz="1600" spc="-10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697230" marR="5080" lvl="1" indent="-227329" algn="just">
              <a:lnSpc>
                <a:spcPct val="901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report</a:t>
            </a:r>
            <a:r>
              <a:rPr sz="1400" spc="12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analyzes</a:t>
            </a:r>
            <a:r>
              <a:rPr sz="1400" spc="13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survey</a:t>
            </a:r>
            <a:r>
              <a:rPr sz="1400" spc="12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400" spc="13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highlight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current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12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future</a:t>
            </a:r>
            <a:r>
              <a:rPr sz="1400" spc="13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technology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preferences</a:t>
            </a:r>
            <a:r>
              <a:rPr sz="1400" spc="27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400" spc="28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developers,</a:t>
            </a:r>
            <a:r>
              <a:rPr sz="1400" spc="280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including</a:t>
            </a:r>
            <a:r>
              <a:rPr sz="1400" spc="28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languages,</a:t>
            </a:r>
            <a:r>
              <a:rPr sz="1400" spc="28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databases,</a:t>
            </a:r>
            <a:r>
              <a:rPr sz="1400" spc="27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platforms,</a:t>
            </a:r>
            <a:r>
              <a:rPr sz="1400" spc="27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006FC0"/>
                </a:solidFill>
                <a:latin typeface="Calibri"/>
                <a:cs typeface="Calibri"/>
              </a:rPr>
              <a:t>and 	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frameworks.</a:t>
            </a:r>
            <a:endParaRPr sz="1400">
              <a:latin typeface="Calibri"/>
              <a:cs typeface="Calibri"/>
            </a:endParaRPr>
          </a:p>
          <a:p>
            <a:pPr marL="697230" marR="5715" lvl="1" indent="-227329" algn="just">
              <a:lnSpc>
                <a:spcPts val="1510"/>
              </a:lnSpc>
              <a:spcBef>
                <a:spcPts val="515"/>
              </a:spcBef>
              <a:buFont typeface="Arial"/>
              <a:buChar char="•"/>
              <a:tabLst>
                <a:tab pos="69850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Targeted</a:t>
            </a:r>
            <a:r>
              <a:rPr sz="1400" spc="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leaders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HR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teams,</a:t>
            </a:r>
            <a:r>
              <a:rPr sz="1400" spc="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report</a:t>
            </a:r>
            <a:r>
              <a:rPr sz="1400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provides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insights</a:t>
            </a:r>
            <a:r>
              <a:rPr sz="1400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400" spc="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guide 	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technology</a:t>
            </a:r>
            <a:r>
              <a:rPr sz="1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adoption,</a:t>
            </a:r>
            <a:r>
              <a:rPr sz="1400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workforce planning,</a:t>
            </a:r>
            <a:r>
              <a:rPr sz="1400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skill</a:t>
            </a:r>
            <a:r>
              <a:rPr sz="1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development</a:t>
            </a:r>
            <a:r>
              <a:rPr sz="1400" spc="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line</a:t>
            </a:r>
            <a:r>
              <a:rPr sz="1400" spc="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with</a:t>
            </a:r>
            <a:r>
              <a:rPr sz="1400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industry 	trends.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841" rIns="0" bIns="0" rtlCol="0">
            <a:spAutoFit/>
          </a:bodyPr>
          <a:lstStyle/>
          <a:p>
            <a:pPr marL="745490">
              <a:lnSpc>
                <a:spcPct val="100000"/>
              </a:lnSpc>
              <a:spcBef>
                <a:spcPts val="95"/>
              </a:spcBef>
            </a:pPr>
            <a:r>
              <a:rPr spc="225" dirty="0"/>
              <a:t>METHODOLOGY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64482" y="1827022"/>
            <a:ext cx="6715759" cy="324421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0029" marR="5080" indent="-227329" algn="just">
              <a:lnSpc>
                <a:spcPts val="1510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1400" b="1" spc="8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b="1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100" dirty="0">
                <a:solidFill>
                  <a:srgbClr val="252525"/>
                </a:solidFill>
                <a:latin typeface="Calibri"/>
                <a:cs typeface="Calibri"/>
              </a:rPr>
              <a:t>Sources:</a:t>
            </a:r>
            <a:r>
              <a:rPr sz="1400" b="1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analysis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uses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survey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collected</a:t>
            </a:r>
            <a:r>
              <a:rPr sz="14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from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developers,</a:t>
            </a:r>
            <a:r>
              <a:rPr sz="1400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covering 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usage,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interests,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demographic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information.</a:t>
            </a:r>
            <a:endParaRPr sz="1400">
              <a:latin typeface="Calibri"/>
              <a:cs typeface="Calibri"/>
            </a:endParaRPr>
          </a:p>
          <a:p>
            <a:pPr marL="240029" marR="39370" indent="-227329" algn="just">
              <a:lnSpc>
                <a:spcPts val="15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400" b="1" spc="75" dirty="0">
                <a:solidFill>
                  <a:srgbClr val="252525"/>
                </a:solidFill>
                <a:latin typeface="Calibri"/>
                <a:cs typeface="Calibri"/>
              </a:rPr>
              <a:t>Collection</a:t>
            </a:r>
            <a:r>
              <a:rPr sz="1400" b="1" spc="55" dirty="0">
                <a:solidFill>
                  <a:srgbClr val="252525"/>
                </a:solidFill>
                <a:latin typeface="Calibri"/>
                <a:cs typeface="Calibri"/>
              </a:rPr>
              <a:t> Methods:</a:t>
            </a:r>
            <a:r>
              <a:rPr sz="14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252525"/>
                </a:solidFill>
                <a:latin typeface="Calibri"/>
                <a:cs typeface="Calibri"/>
              </a:rPr>
              <a:t>was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gathered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via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online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survey,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where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respondents 	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selected</a:t>
            </a:r>
            <a:r>
              <a:rPr sz="1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multiple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options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languages,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and 	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frameworks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they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have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worked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or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wish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learn.</a:t>
            </a:r>
            <a:endParaRPr sz="1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240029" algn="l"/>
              </a:tabLst>
            </a:pPr>
            <a:r>
              <a:rPr sz="1400" b="1" spc="8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b="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252525"/>
                </a:solidFill>
                <a:latin typeface="Calibri"/>
                <a:cs typeface="Calibri"/>
              </a:rPr>
              <a:t>Wrangling:</a:t>
            </a:r>
            <a:r>
              <a:rPr sz="1400" b="1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Key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steps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included: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Removing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missing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values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relevant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columns.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Splitting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multi-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select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responses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into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separate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rows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analysis.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Cleaning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 extra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whitespace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standardizing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text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entries.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Counting</a:t>
            </a:r>
            <a:r>
              <a:rPr sz="14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frequencies</a:t>
            </a: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identify</a:t>
            </a:r>
            <a:r>
              <a:rPr sz="14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top</a:t>
            </a:r>
            <a:r>
              <a:rPr sz="14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technologies.</a:t>
            </a:r>
            <a:endParaRPr sz="1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</a:tabLst>
            </a:pP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Preparing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visualizations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such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95" dirty="0">
                <a:solidFill>
                  <a:srgbClr val="252525"/>
                </a:solidFill>
                <a:latin typeface="Calibri"/>
                <a:cs typeface="Calibri"/>
              </a:rPr>
              <a:t>as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bar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charts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pie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charts.</a:t>
            </a:r>
            <a:endParaRPr sz="1400">
              <a:latin typeface="Calibri"/>
              <a:cs typeface="Calibri"/>
            </a:endParaRPr>
          </a:p>
          <a:p>
            <a:pPr marL="241300" marR="604520" indent="-228600">
              <a:lnSpc>
                <a:spcPts val="15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This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methodology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ensures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accurate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into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desired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among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developers.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652" y="1831720"/>
            <a:ext cx="3194558" cy="31945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25" dirty="0"/>
              <a:t>PROGRAMMING</a:t>
            </a:r>
            <a:r>
              <a:rPr spc="80" dirty="0"/>
              <a:t> </a:t>
            </a:r>
            <a:r>
              <a:rPr spc="280" dirty="0"/>
              <a:t>LANGUAGE</a:t>
            </a:r>
            <a:r>
              <a:rPr spc="105" dirty="0"/>
              <a:t> </a:t>
            </a:r>
            <a:r>
              <a:rPr spc="340" dirty="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555" y="1798066"/>
            <a:ext cx="69469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1465" algn="l"/>
              </a:tabLst>
            </a:pPr>
            <a:r>
              <a:rPr sz="2800" spc="105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28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Year</a:t>
            </a:r>
            <a:r>
              <a:rPr sz="28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28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Year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318" y="2247099"/>
            <a:ext cx="5435854" cy="40666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3125" y="2247099"/>
            <a:ext cx="5899531" cy="3961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6939" y="570356"/>
            <a:ext cx="851789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sz="2800" spc="160" dirty="0"/>
              <a:t>PROGRAMMING</a:t>
            </a:r>
            <a:r>
              <a:rPr sz="2800" spc="65" dirty="0"/>
              <a:t> </a:t>
            </a:r>
            <a:r>
              <a:rPr sz="2800" spc="190" dirty="0"/>
              <a:t>LANGUAGE</a:t>
            </a:r>
            <a:r>
              <a:rPr sz="2800" spc="40" dirty="0"/>
              <a:t> </a:t>
            </a:r>
            <a:r>
              <a:rPr sz="2800" spc="245" dirty="0"/>
              <a:t>TRENDS</a:t>
            </a:r>
            <a:r>
              <a:rPr sz="2800" spc="35" dirty="0"/>
              <a:t> </a:t>
            </a:r>
            <a:r>
              <a:rPr sz="2800" spc="254" dirty="0"/>
              <a:t>-</a:t>
            </a:r>
            <a:r>
              <a:rPr sz="2800" spc="50" dirty="0"/>
              <a:t> </a:t>
            </a:r>
            <a:r>
              <a:rPr sz="2800" spc="275" dirty="0"/>
              <a:t>FINDINGS</a:t>
            </a:r>
            <a:r>
              <a:rPr sz="2800" spc="25" dirty="0"/>
              <a:t> </a:t>
            </a:r>
            <a:r>
              <a:rPr sz="2800" spc="-50" dirty="0"/>
              <a:t>&amp; </a:t>
            </a:r>
            <a:r>
              <a:rPr sz="2800" spc="240" dirty="0"/>
              <a:t>IMPLICATIONS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892555" y="2850007"/>
            <a:ext cx="5004435" cy="1646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1300" marR="132080" indent="-229235">
              <a:lnSpc>
                <a:spcPts val="1510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Year:</a:t>
            </a:r>
            <a:r>
              <a:rPr sz="1400" spc="3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Top</a:t>
            </a:r>
            <a:r>
              <a:rPr sz="1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125" dirty="0">
                <a:solidFill>
                  <a:srgbClr val="252525"/>
                </a:solidFill>
                <a:latin typeface="Calibri"/>
                <a:cs typeface="Calibri"/>
              </a:rPr>
              <a:t>10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dominate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usage,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showing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reliance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stable,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well-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supported,</a:t>
            </a:r>
            <a:r>
              <a:rPr sz="1400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versatile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tools.</a:t>
            </a:r>
            <a:endParaRPr sz="1400">
              <a:latin typeface="Calibri"/>
              <a:cs typeface="Calibri"/>
            </a:endParaRPr>
          </a:p>
          <a:p>
            <a:pPr marL="241300" marR="15240" indent="-229235">
              <a:lnSpc>
                <a:spcPts val="151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Year: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interested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modern,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in-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demand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support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technologies,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while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still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valuing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some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favorites.</a:t>
            </a:r>
            <a:endParaRPr sz="1400">
              <a:latin typeface="Calibri"/>
              <a:cs typeface="Calibri"/>
            </a:endParaRPr>
          </a:p>
          <a:p>
            <a:pPr marL="241300" indent="-228600">
              <a:lnSpc>
                <a:spcPts val="1595"/>
              </a:lnSpc>
              <a:spcBef>
                <a:spcPts val="819"/>
              </a:spcBef>
              <a:buFont typeface="Arial"/>
              <a:buChar char="•"/>
              <a:tabLst>
                <a:tab pos="241300" algn="l"/>
              </a:tabLst>
            </a:pP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Insight: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There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balance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between</a:t>
            </a:r>
            <a:r>
              <a:rPr sz="1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using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ts val="1595"/>
              </a:lnSpc>
            </a:pP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today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new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ones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projects.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555" y="1798066"/>
            <a:ext cx="7380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1465" algn="l"/>
              </a:tabLst>
            </a:pPr>
            <a:r>
              <a:rPr sz="2800" spc="125" dirty="0">
                <a:solidFill>
                  <a:srgbClr val="252525"/>
                </a:solidFill>
                <a:latin typeface="Calibri"/>
                <a:cs typeface="Calibri"/>
              </a:rPr>
              <a:t>Findings</a:t>
            </a:r>
            <a:r>
              <a:rPr sz="28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2800" spc="140" dirty="0">
                <a:solidFill>
                  <a:srgbClr val="252525"/>
                </a:solidFill>
                <a:latin typeface="Calibri"/>
                <a:cs typeface="Calibri"/>
              </a:rPr>
              <a:t>Implications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828" y="2853054"/>
            <a:ext cx="5008880" cy="26352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1300" marR="99695" indent="-228600">
              <a:lnSpc>
                <a:spcPts val="1400"/>
              </a:lnSpc>
              <a:spcBef>
                <a:spcPts val="275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spc="65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300" b="1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b="1" spc="75" dirty="0">
                <a:solidFill>
                  <a:srgbClr val="252525"/>
                </a:solidFill>
                <a:latin typeface="Calibri"/>
                <a:cs typeface="Calibri"/>
              </a:rPr>
              <a:t>Planning:</a:t>
            </a:r>
            <a:r>
              <a:rPr sz="1300" b="1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0" dirty="0">
                <a:solidFill>
                  <a:srgbClr val="252525"/>
                </a:solidFill>
                <a:latin typeface="Calibri"/>
                <a:cs typeface="Calibri"/>
              </a:rPr>
              <a:t>Organizations</a:t>
            </a:r>
            <a:r>
              <a:rPr sz="13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5" dirty="0">
                <a:solidFill>
                  <a:srgbClr val="252525"/>
                </a:solidFill>
                <a:latin typeface="Calibri"/>
                <a:cs typeface="Calibri"/>
              </a:rPr>
              <a:t>should</a:t>
            </a:r>
            <a:r>
              <a:rPr sz="13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5" dirty="0">
                <a:solidFill>
                  <a:srgbClr val="252525"/>
                </a:solidFill>
                <a:latin typeface="Calibri"/>
                <a:cs typeface="Calibri"/>
              </a:rPr>
              <a:t>ensure</a:t>
            </a:r>
            <a:r>
              <a:rPr sz="13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45" dirty="0">
                <a:solidFill>
                  <a:srgbClr val="252525"/>
                </a:solidFill>
                <a:latin typeface="Calibri"/>
                <a:cs typeface="Calibri"/>
              </a:rPr>
              <a:t>developers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3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5" dirty="0">
                <a:solidFill>
                  <a:srgbClr val="252525"/>
                </a:solidFill>
                <a:latin typeface="Calibri"/>
                <a:cs typeface="Calibri"/>
              </a:rPr>
              <a:t>skilled</a:t>
            </a:r>
            <a:r>
              <a:rPr sz="13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3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3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0" dirty="0">
                <a:solidFill>
                  <a:srgbClr val="252525"/>
                </a:solidFill>
                <a:latin typeface="Calibri"/>
                <a:cs typeface="Calibri"/>
              </a:rPr>
              <a:t>widely</a:t>
            </a:r>
            <a:r>
              <a:rPr sz="13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70" dirty="0">
                <a:solidFill>
                  <a:srgbClr val="252525"/>
                </a:solidFill>
                <a:latin typeface="Calibri"/>
                <a:cs typeface="Calibri"/>
              </a:rPr>
              <a:t>used</a:t>
            </a:r>
            <a:r>
              <a:rPr sz="13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3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3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3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45" dirty="0">
                <a:solidFill>
                  <a:srgbClr val="252525"/>
                </a:solidFill>
                <a:latin typeface="Calibri"/>
                <a:cs typeface="Calibri"/>
              </a:rPr>
              <a:t>emerging </a:t>
            </a:r>
            <a:r>
              <a:rPr sz="13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3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1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3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10" dirty="0">
                <a:solidFill>
                  <a:srgbClr val="252525"/>
                </a:solidFill>
                <a:latin typeface="Calibri"/>
                <a:cs typeface="Calibri"/>
              </a:rPr>
              <a:t>will</a:t>
            </a:r>
            <a:r>
              <a:rPr sz="13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0" dirty="0">
                <a:solidFill>
                  <a:srgbClr val="252525"/>
                </a:solidFill>
                <a:latin typeface="Calibri"/>
                <a:cs typeface="Calibri"/>
              </a:rPr>
              <a:t>be</a:t>
            </a:r>
            <a:r>
              <a:rPr sz="13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10" dirty="0">
                <a:solidFill>
                  <a:srgbClr val="252525"/>
                </a:solidFill>
                <a:latin typeface="Calibri"/>
                <a:cs typeface="Calibri"/>
              </a:rPr>
              <a:t>important</a:t>
            </a:r>
            <a:r>
              <a:rPr sz="13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50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13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252525"/>
                </a:solidFill>
                <a:latin typeface="Calibri"/>
                <a:cs typeface="Calibri"/>
              </a:rPr>
              <a:t>year.</a:t>
            </a:r>
            <a:endParaRPr sz="1300">
              <a:latin typeface="Calibri"/>
              <a:cs typeface="Calibri"/>
            </a:endParaRPr>
          </a:p>
          <a:p>
            <a:pPr marL="241300" marR="167005" indent="-228600">
              <a:lnSpc>
                <a:spcPts val="13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Training</a:t>
            </a:r>
            <a:r>
              <a:rPr sz="1200" b="1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52525"/>
                </a:solidFill>
                <a:latin typeface="Calibri"/>
                <a:cs typeface="Calibri"/>
              </a:rPr>
              <a:t>&amp;</a:t>
            </a:r>
            <a:r>
              <a:rPr sz="12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Development: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There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2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2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clear</a:t>
            </a:r>
            <a:r>
              <a:rPr sz="12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need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continuous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programs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help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adopt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stay</a:t>
            </a:r>
            <a:r>
              <a:rPr sz="12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competitive.</a:t>
            </a:r>
            <a:endParaRPr sz="1200">
              <a:latin typeface="Calibri"/>
              <a:cs typeface="Calibri"/>
            </a:endParaRPr>
          </a:p>
          <a:p>
            <a:pPr marL="241300" marR="166370" indent="-228600">
              <a:lnSpc>
                <a:spcPct val="902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1300" b="1" spc="7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300" b="1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b="1" spc="80" dirty="0">
                <a:solidFill>
                  <a:srgbClr val="252525"/>
                </a:solidFill>
                <a:latin typeface="Calibri"/>
                <a:cs typeface="Calibri"/>
              </a:rPr>
              <a:t>Strategy:</a:t>
            </a:r>
            <a:r>
              <a:rPr sz="1300" b="1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5" dirty="0">
                <a:solidFill>
                  <a:srgbClr val="252525"/>
                </a:solidFill>
                <a:latin typeface="Calibri"/>
                <a:cs typeface="Calibri"/>
              </a:rPr>
              <a:t>Companies</a:t>
            </a:r>
            <a:r>
              <a:rPr sz="1300" spc="1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3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align</a:t>
            </a:r>
            <a:r>
              <a:rPr sz="13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project</a:t>
            </a:r>
            <a:r>
              <a:rPr sz="13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52525"/>
                </a:solidFill>
                <a:latin typeface="Calibri"/>
                <a:cs typeface="Calibri"/>
              </a:rPr>
              <a:t>planning </a:t>
            </a:r>
            <a:r>
              <a:rPr sz="13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3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4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300" spc="1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adoption</a:t>
            </a:r>
            <a:r>
              <a:rPr sz="13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300" spc="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300" spc="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that</a:t>
            </a:r>
            <a:r>
              <a:rPr sz="13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3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300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300" spc="35" dirty="0">
                <a:solidFill>
                  <a:srgbClr val="252525"/>
                </a:solidFill>
                <a:latin typeface="Calibri"/>
                <a:cs typeface="Calibri"/>
              </a:rPr>
              <a:t>popular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today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expected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grow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demand,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ensuring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long-</a:t>
            </a:r>
            <a:r>
              <a:rPr sz="1200" spc="-20" dirty="0">
                <a:solidFill>
                  <a:srgbClr val="252525"/>
                </a:solidFill>
                <a:latin typeface="Calibri"/>
                <a:cs typeface="Calibri"/>
              </a:rPr>
              <a:t>term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relevance.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ts val="13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Recruitment:</a:t>
            </a:r>
            <a:r>
              <a:rPr sz="1200" b="1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Hiring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strategies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focus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candidates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5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expertise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established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future-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proof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teams.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037" rIns="0" bIns="0" rtlCol="0">
            <a:spAutoFit/>
          </a:bodyPr>
          <a:lstStyle/>
          <a:p>
            <a:pPr marL="826135">
              <a:lnSpc>
                <a:spcPct val="100000"/>
              </a:lnSpc>
              <a:spcBef>
                <a:spcPts val="95"/>
              </a:spcBef>
            </a:pPr>
            <a:r>
              <a:rPr spc="330" dirty="0"/>
              <a:t>DATABASE</a:t>
            </a:r>
            <a:r>
              <a:rPr spc="75" dirty="0"/>
              <a:t> </a:t>
            </a:r>
            <a:r>
              <a:rPr spc="340" dirty="0"/>
              <a:t>TRENDS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2555" y="1798066"/>
            <a:ext cx="20402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05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28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Year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1828" y="1798066"/>
            <a:ext cx="1587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28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800" spc="130" dirty="0">
                <a:solidFill>
                  <a:srgbClr val="252525"/>
                </a:solidFill>
                <a:latin typeface="Calibri"/>
                <a:cs typeface="Calibri"/>
              </a:rPr>
              <a:t>Year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11934824" cy="6219825"/>
            <a:chOff x="0" y="0"/>
            <a:chExt cx="11934824" cy="62198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832" y="2398814"/>
              <a:ext cx="5595365" cy="38204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42583" y="2558173"/>
              <a:ext cx="5850635" cy="34903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934824" cy="62198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30" dirty="0"/>
              <a:t>DATABASE</a:t>
            </a:r>
            <a:r>
              <a:rPr spc="80" dirty="0"/>
              <a:t> </a:t>
            </a:r>
            <a:r>
              <a:rPr spc="350" dirty="0"/>
              <a:t>TRENDS</a:t>
            </a:r>
            <a:r>
              <a:rPr spc="90" dirty="0"/>
              <a:t> </a:t>
            </a:r>
            <a:r>
              <a:rPr spc="375" dirty="0"/>
              <a:t>-</a:t>
            </a:r>
            <a:r>
              <a:rPr spc="65" dirty="0"/>
              <a:t> </a:t>
            </a:r>
            <a:r>
              <a:rPr spc="395" dirty="0"/>
              <a:t>FINDINGS</a:t>
            </a:r>
            <a:r>
              <a:rPr spc="95" dirty="0"/>
              <a:t> </a:t>
            </a:r>
            <a:r>
              <a:rPr dirty="0"/>
              <a:t>&amp;</a:t>
            </a:r>
            <a:r>
              <a:rPr spc="55" dirty="0"/>
              <a:t> </a:t>
            </a:r>
            <a:r>
              <a:rPr spc="350" dirty="0"/>
              <a:t>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555" y="1798066"/>
            <a:ext cx="5047615" cy="34269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25" dirty="0">
                <a:solidFill>
                  <a:srgbClr val="252525"/>
                </a:solidFill>
                <a:latin typeface="Calibri"/>
                <a:cs typeface="Calibri"/>
              </a:rPr>
              <a:t>Findings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Year:</a:t>
            </a:r>
            <a:endParaRPr sz="1200">
              <a:latin typeface="Calibri"/>
              <a:cs typeface="Calibri"/>
            </a:endParaRPr>
          </a:p>
          <a:p>
            <a:pPr marL="500380" lvl="1" indent="-228600" algn="ctr">
              <a:lnSpc>
                <a:spcPts val="1370"/>
              </a:lnSpc>
              <a:spcBef>
                <a:spcPts val="360"/>
              </a:spcBef>
              <a:buFont typeface="Arial"/>
              <a:buChar char="•"/>
              <a:tabLst>
                <a:tab pos="500380" algn="l"/>
              </a:tabLst>
            </a:pP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small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 set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databases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dominates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usage,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top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10</a:t>
            </a:r>
            <a:endParaRPr sz="1200">
              <a:latin typeface="Calibri"/>
              <a:cs typeface="Calibri"/>
            </a:endParaRPr>
          </a:p>
          <a:p>
            <a:pPr marL="294640" algn="ctr">
              <a:lnSpc>
                <a:spcPts val="1370"/>
              </a:lnSpc>
            </a:pP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accounting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majority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respondents’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experience.</a:t>
            </a:r>
            <a:endParaRPr sz="1200">
              <a:latin typeface="Calibri"/>
              <a:cs typeface="Calibri"/>
            </a:endParaRPr>
          </a:p>
          <a:p>
            <a:pPr marL="698500" marR="66040" lvl="1" indent="-228600">
              <a:lnSpc>
                <a:spcPts val="13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Popular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databases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mature,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widely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adopted,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reliable,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reflecting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industry-standard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choices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storage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management.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241300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Year:</a:t>
            </a:r>
            <a:endParaRPr sz="1200">
              <a:latin typeface="Calibri"/>
              <a:cs typeface="Calibri"/>
            </a:endParaRPr>
          </a:p>
          <a:p>
            <a:pPr marL="698500" marR="140335" lvl="1" indent="-228600">
              <a:lnSpc>
                <a:spcPts val="1300"/>
              </a:lnSpc>
              <a:spcBef>
                <a:spcPts val="509"/>
              </a:spcBef>
              <a:buFont typeface="Arial"/>
              <a:buChar char="•"/>
              <a:tabLst>
                <a:tab pos="698500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modern,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scalable,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cloud-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ready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databases.</a:t>
            </a:r>
            <a:endParaRPr sz="1200">
              <a:latin typeface="Calibri"/>
              <a:cs typeface="Calibri"/>
            </a:endParaRPr>
          </a:p>
          <a:p>
            <a:pPr marL="698500" marR="250190" lvl="1" indent="-228600">
              <a:lnSpc>
                <a:spcPct val="90100"/>
              </a:lnSpc>
              <a:spcBef>
                <a:spcPts val="480"/>
              </a:spcBef>
              <a:buFont typeface="Arial"/>
              <a:buChar char="•"/>
              <a:tabLst>
                <a:tab pos="698500" algn="l"/>
              </a:tabLst>
            </a:pP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Some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 currently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popular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databases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remain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demand,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Calibri"/>
                <a:cs typeface="Calibri"/>
              </a:rPr>
              <a:t>but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gaining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attention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future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projects.</a:t>
            </a:r>
            <a:endParaRPr sz="1200">
              <a:latin typeface="Calibri"/>
              <a:cs typeface="Calibri"/>
            </a:endParaRPr>
          </a:p>
          <a:p>
            <a:pPr marL="241300" marR="5080" indent="-229235">
              <a:lnSpc>
                <a:spcPts val="13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There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balance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between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reliance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databases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today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and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200" spc="1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adopting</a:t>
            </a:r>
            <a:r>
              <a:rPr sz="12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newer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200" spc="2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200" spc="1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future.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1798066"/>
            <a:ext cx="2021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40" dirty="0">
                <a:solidFill>
                  <a:srgbClr val="252525"/>
                </a:solidFill>
                <a:latin typeface="Calibri"/>
                <a:cs typeface="Calibri"/>
              </a:rPr>
              <a:t>Implications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1828" y="2343658"/>
            <a:ext cx="5046980" cy="225189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41300" marR="417195" indent="-228600">
              <a:lnSpc>
                <a:spcPts val="1300"/>
              </a:lnSpc>
              <a:spcBef>
                <a:spcPts val="260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60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200" b="1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Development:</a:t>
            </a:r>
            <a:r>
              <a:rPr sz="1200" b="1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Training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programs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should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cover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Calibri"/>
                <a:cs typeface="Calibri"/>
              </a:rPr>
              <a:t>both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widely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used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databases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ones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prepare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2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projects.</a:t>
            </a:r>
            <a:endParaRPr sz="1200">
              <a:latin typeface="Calibri"/>
              <a:cs typeface="Calibri"/>
            </a:endParaRPr>
          </a:p>
          <a:p>
            <a:pPr marL="241300" marR="5080" indent="-228600">
              <a:lnSpc>
                <a:spcPts val="13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b="1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75" dirty="0">
                <a:solidFill>
                  <a:srgbClr val="252525"/>
                </a:solidFill>
                <a:latin typeface="Calibri"/>
                <a:cs typeface="Calibri"/>
              </a:rPr>
              <a:t>Planning:</a:t>
            </a:r>
            <a:r>
              <a:rPr sz="1200" b="1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Organizations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prioritize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database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adoption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integration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strategies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aligned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future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trends.</a:t>
            </a:r>
            <a:endParaRPr sz="1200">
              <a:latin typeface="Calibri"/>
              <a:cs typeface="Calibri"/>
            </a:endParaRPr>
          </a:p>
          <a:p>
            <a:pPr marL="241300" marR="127635" indent="-228600">
              <a:lnSpc>
                <a:spcPts val="13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Recruitment:</a:t>
            </a:r>
            <a:r>
              <a:rPr sz="1200" b="1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Hiring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strategies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target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candidates</a:t>
            </a:r>
            <a:r>
              <a:rPr sz="1200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expertise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established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databases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ensure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long-</a:t>
            </a:r>
            <a:r>
              <a:rPr sz="1200" spc="-20" dirty="0">
                <a:solidFill>
                  <a:srgbClr val="252525"/>
                </a:solidFill>
                <a:latin typeface="Calibri"/>
                <a:cs typeface="Calibri"/>
              </a:rPr>
              <a:t>term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flexibility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competitiveness.</a:t>
            </a:r>
            <a:endParaRPr sz="1200">
              <a:latin typeface="Calibri"/>
              <a:cs typeface="Calibri"/>
            </a:endParaRPr>
          </a:p>
          <a:p>
            <a:pPr marL="227965" marR="471170" indent="-227965" algn="ctr">
              <a:lnSpc>
                <a:spcPts val="1370"/>
              </a:lnSpc>
              <a:spcBef>
                <a:spcPts val="825"/>
              </a:spcBef>
              <a:buFont typeface="Arial"/>
              <a:buChar char="•"/>
              <a:tabLst>
                <a:tab pos="227965" algn="l"/>
              </a:tabLst>
            </a:pP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Project</a:t>
            </a:r>
            <a:r>
              <a:rPr sz="1200" b="1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75" dirty="0">
                <a:solidFill>
                  <a:srgbClr val="252525"/>
                </a:solidFill>
                <a:latin typeface="Calibri"/>
                <a:cs typeface="Calibri"/>
              </a:rPr>
              <a:t>Strategy:</a:t>
            </a:r>
            <a:r>
              <a:rPr sz="1200" b="1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Selecting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databases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 new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projects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should</a:t>
            </a:r>
            <a:endParaRPr sz="1200">
              <a:latin typeface="Calibri"/>
              <a:cs typeface="Calibri"/>
            </a:endParaRPr>
          </a:p>
          <a:p>
            <a:pPr marR="487680" algn="ctr">
              <a:lnSpc>
                <a:spcPts val="1370"/>
              </a:lnSpc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consider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2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stability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scalability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needs.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00" dirty="0"/>
              <a:t>DASHBOARD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480" y="1901825"/>
            <a:ext cx="3054350" cy="3054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10" dirty="0"/>
              <a:t>DASHBOARD</a:t>
            </a:r>
            <a:r>
              <a:rPr spc="75" dirty="0"/>
              <a:t> </a:t>
            </a:r>
            <a:r>
              <a:rPr spc="330" dirty="0"/>
              <a:t>TAB</a:t>
            </a:r>
            <a:r>
              <a:rPr spc="65" dirty="0"/>
              <a:t> </a:t>
            </a:r>
            <a:r>
              <a:rPr spc="310" dirty="0"/>
              <a:t>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595" y="1405356"/>
            <a:ext cx="9597897" cy="53855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10" dirty="0"/>
              <a:t>DASHBOARD</a:t>
            </a:r>
            <a:r>
              <a:rPr spc="75" dirty="0"/>
              <a:t> </a:t>
            </a:r>
            <a:r>
              <a:rPr spc="330" dirty="0"/>
              <a:t>TAB</a:t>
            </a:r>
            <a:r>
              <a:rPr spc="65" dirty="0"/>
              <a:t> </a:t>
            </a:r>
            <a:r>
              <a:rPr spc="31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279" y="1413661"/>
            <a:ext cx="10037572" cy="54480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10" dirty="0"/>
              <a:t>DASHBOARD</a:t>
            </a:r>
            <a:r>
              <a:rPr spc="75" dirty="0"/>
              <a:t> </a:t>
            </a:r>
            <a:r>
              <a:rPr spc="330" dirty="0"/>
              <a:t>TAB</a:t>
            </a:r>
            <a:r>
              <a:rPr spc="65" dirty="0"/>
              <a:t> </a:t>
            </a:r>
            <a:r>
              <a:rPr spc="310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0947" y="1711751"/>
            <a:ext cx="9681464" cy="5141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95" dirty="0"/>
              <a:t>DISCUSSION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464" y="1825688"/>
            <a:ext cx="4351273" cy="43512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51828" y="1793494"/>
            <a:ext cx="24479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8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400" b="1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8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09029" y="2005330"/>
            <a:ext cx="45681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rely</a:t>
            </a:r>
            <a:r>
              <a:rPr sz="14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4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core,</a:t>
            </a:r>
            <a:r>
              <a:rPr sz="1400" spc="1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well-established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9029" y="2154682"/>
            <a:ext cx="45669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(Python,</a:t>
            </a:r>
            <a:r>
              <a:rPr sz="1400" spc="10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JavaScript,</a:t>
            </a:r>
            <a:r>
              <a:rPr sz="1400" spc="4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85" dirty="0">
                <a:solidFill>
                  <a:srgbClr val="252525"/>
                </a:solidFill>
                <a:latin typeface="Calibri"/>
                <a:cs typeface="Calibri"/>
              </a:rPr>
              <a:t>Java),</a:t>
            </a:r>
            <a:r>
              <a:rPr sz="1400" spc="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400" spc="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400" spc="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1828" y="2241048"/>
            <a:ext cx="442277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frameworks,</a:t>
            </a:r>
            <a:r>
              <a:rPr sz="14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favoring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stability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efficiency.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9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400" b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b="1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09029" y="2793619"/>
            <a:ext cx="4567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There</a:t>
            </a:r>
            <a:r>
              <a:rPr sz="1400" spc="18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4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4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new</a:t>
            </a:r>
            <a:r>
              <a:rPr sz="1400" spc="1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languages,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9029" y="2942970"/>
            <a:ext cx="4567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400" spc="1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1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frameworks,</a:t>
            </a:r>
            <a:r>
              <a:rPr sz="1400" spc="17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indicating</a:t>
            </a:r>
            <a:r>
              <a:rPr sz="1400" spc="18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evolving</a:t>
            </a:r>
            <a:r>
              <a:rPr sz="1400" spc="1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skill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1828" y="3028924"/>
            <a:ext cx="473519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80" dirty="0">
                <a:solidFill>
                  <a:srgbClr val="252525"/>
                </a:solidFill>
                <a:latin typeface="Calibri"/>
                <a:cs typeface="Calibri"/>
              </a:rPr>
              <a:t>demands</a:t>
            </a:r>
            <a:r>
              <a:rPr sz="14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opportunities</a:t>
            </a:r>
            <a:r>
              <a:rPr sz="14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training</a:t>
            </a:r>
            <a:r>
              <a:rPr sz="14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adoption.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90" dirty="0">
                <a:solidFill>
                  <a:srgbClr val="252525"/>
                </a:solidFill>
                <a:latin typeface="Calibri"/>
                <a:cs typeface="Calibri"/>
              </a:rPr>
              <a:t>Demographics</a:t>
            </a:r>
            <a:r>
              <a:rPr sz="1400"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95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9029" y="3581527"/>
            <a:ext cx="4567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Respondents</a:t>
            </a:r>
            <a:r>
              <a:rPr sz="14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4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diverse</a:t>
            </a:r>
            <a:r>
              <a:rPr sz="14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4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country,</a:t>
            </a:r>
            <a:r>
              <a:rPr sz="14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age,</a:t>
            </a:r>
            <a:r>
              <a:rPr sz="14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education.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9029" y="3730878"/>
            <a:ext cx="4567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400" spc="3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preferences</a:t>
            </a:r>
            <a:r>
              <a:rPr sz="1400" spc="3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vary</a:t>
            </a:r>
            <a:r>
              <a:rPr sz="1400" spc="3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sz="1400" spc="3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demographic,</a:t>
            </a:r>
            <a:r>
              <a:rPr sz="1400" spc="40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helping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828" y="3817245"/>
            <a:ext cx="379158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guide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recruitment</a:t>
            </a:r>
            <a:r>
              <a:rPr sz="1400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initiatives.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110" dirty="0">
                <a:solidFill>
                  <a:srgbClr val="252525"/>
                </a:solidFill>
                <a:latin typeface="Calibri"/>
                <a:cs typeface="Calibri"/>
              </a:rPr>
              <a:t>Cross-</a:t>
            </a:r>
            <a:r>
              <a:rPr sz="1400" b="1" spc="95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9029" y="4369689"/>
            <a:ext cx="4568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5490" algn="l"/>
                <a:tab pos="1347470" algn="l"/>
                <a:tab pos="1945005" algn="l"/>
                <a:tab pos="2417445" algn="l"/>
                <a:tab pos="3803015" algn="l"/>
              </a:tabLst>
            </a:pP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aligns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-2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future</a:t>
            </a:r>
            <a:r>
              <a:rPr sz="1400" spc="2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interests,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9029" y="4519040"/>
            <a:ext cx="45681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75385" algn="l"/>
                <a:tab pos="2548890" algn="l"/>
                <a:tab pos="3133725" algn="l"/>
                <a:tab pos="4064000" algn="l"/>
              </a:tabLst>
            </a:pP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suggesting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organizations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balance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stable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1828" y="4604994"/>
            <a:ext cx="4766945" cy="58039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emerging tools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for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strategic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growth.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240665" algn="l"/>
              </a:tabLst>
            </a:pPr>
            <a:r>
              <a:rPr sz="1400" b="1" spc="65" dirty="0">
                <a:solidFill>
                  <a:srgbClr val="252525"/>
                </a:solidFill>
                <a:latin typeface="Calibri"/>
                <a:cs typeface="Calibri"/>
              </a:rPr>
              <a:t>Limitations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9029" y="5157597"/>
            <a:ext cx="4567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3315" algn="l"/>
                <a:tab pos="1638935" algn="l"/>
                <a:tab pos="2665730" algn="l"/>
                <a:tab pos="3164205" algn="l"/>
                <a:tab pos="4088129" algn="l"/>
              </a:tabLst>
            </a:pP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Multi-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select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35" dirty="0">
                <a:solidFill>
                  <a:srgbClr val="252525"/>
                </a:solidFill>
                <a:latin typeface="Calibri"/>
                <a:cs typeface="Calibri"/>
              </a:rPr>
              <a:t>data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processing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may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introduce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minor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9029" y="5306948"/>
            <a:ext cx="45662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9660" algn="l"/>
                <a:tab pos="1602105" algn="l"/>
                <a:tab pos="2036445" algn="l"/>
                <a:tab pos="2432685" algn="l"/>
                <a:tab pos="3094355" algn="l"/>
                <a:tab pos="3815079" algn="l"/>
                <a:tab pos="4289425" algn="l"/>
              </a:tabLst>
            </a:pPr>
            <a:r>
              <a:rPr sz="1400" spc="40" dirty="0">
                <a:solidFill>
                  <a:srgbClr val="252525"/>
                </a:solidFill>
                <a:latin typeface="Calibri"/>
                <a:cs typeface="Calibri"/>
              </a:rPr>
              <a:t>aggregation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bias,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survey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sample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may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400" spc="-25" dirty="0">
                <a:solidFill>
                  <a:srgbClr val="252525"/>
                </a:solidFill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9029" y="5456326"/>
            <a:ext cx="26758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represent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all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4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45" dirty="0">
                <a:solidFill>
                  <a:srgbClr val="252525"/>
                </a:solidFill>
                <a:latin typeface="Calibri"/>
                <a:cs typeface="Calibri"/>
              </a:rPr>
              <a:t>globally.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00" dirty="0"/>
              <a:t>OVERALL</a:t>
            </a:r>
            <a:r>
              <a:rPr spc="85" dirty="0"/>
              <a:t> </a:t>
            </a:r>
            <a:r>
              <a:rPr spc="405" dirty="0"/>
              <a:t>FINDINGS</a:t>
            </a:r>
            <a:r>
              <a:rPr spc="80" dirty="0"/>
              <a:t> </a:t>
            </a:r>
            <a:r>
              <a:rPr dirty="0"/>
              <a:t>&amp;</a:t>
            </a:r>
            <a:r>
              <a:rPr spc="65" dirty="0"/>
              <a:t> </a:t>
            </a:r>
            <a:r>
              <a:rPr spc="350" dirty="0"/>
              <a:t>IMPLICATIONS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2555" y="1788921"/>
            <a:ext cx="213106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Findings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b="1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b="1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0010" y="2567685"/>
            <a:ext cx="4563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mostly</a:t>
            </a:r>
            <a:r>
              <a:rPr sz="12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use</a:t>
            </a:r>
            <a:r>
              <a:rPr sz="12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2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few</a:t>
            </a:r>
            <a:r>
              <a:rPr sz="1200" spc="43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core</a:t>
            </a:r>
            <a:r>
              <a:rPr sz="12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r>
              <a:rPr sz="1200" spc="4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languages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8610" y="2695397"/>
            <a:ext cx="43357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(Python,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JavaScript,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Java)</a:t>
            </a:r>
            <a:r>
              <a:rPr sz="1200" spc="1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widely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adopted</a:t>
            </a:r>
            <a:r>
              <a:rPr sz="1200" spc="1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010" y="2824098"/>
            <a:ext cx="4243070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frameworks.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240665" algn="l"/>
              </a:tabLst>
            </a:pP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frameworks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like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React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Django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highly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popular.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0010" y="3208146"/>
            <a:ext cx="4565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spc="2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200" spc="2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is</a:t>
            </a:r>
            <a:r>
              <a:rPr sz="1200" spc="22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concentrated</a:t>
            </a:r>
            <a:r>
              <a:rPr sz="1200" spc="2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200" spc="2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stable,</a:t>
            </a:r>
            <a:r>
              <a:rPr sz="1200" spc="2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industry-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2555" y="3264535"/>
            <a:ext cx="2117090" cy="53467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660"/>
              </a:spcBef>
            </a:pP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tools.</a:t>
            </a:r>
            <a:endParaRPr sz="12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41300" algn="l"/>
              </a:tabLst>
            </a:pP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200" b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b="1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0010" y="3782695"/>
            <a:ext cx="4563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sz="12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200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2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200" spc="1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new</a:t>
            </a:r>
            <a:r>
              <a:rPr sz="1200" spc="1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8610" y="3910710"/>
            <a:ext cx="4156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languages,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frameworks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year.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0010" y="4101210"/>
            <a:ext cx="4563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1063625" algn="l"/>
                <a:tab pos="2120265" algn="l"/>
                <a:tab pos="2516505" algn="l"/>
                <a:tab pos="3183890" algn="l"/>
                <a:tab pos="3890010" algn="l"/>
              </a:tabLst>
            </a:pP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200" spc="-25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gaining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traction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	</a:t>
            </a: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alongside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555" y="4155430"/>
            <a:ext cx="4914265" cy="7289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R="2992120" algn="r">
              <a:lnSpc>
                <a:spcPct val="100000"/>
              </a:lnSpc>
              <a:spcBef>
                <a:spcPts val="680"/>
              </a:spcBef>
            </a:pP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established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tools.</a:t>
            </a:r>
            <a:endParaRPr sz="1200">
              <a:latin typeface="Calibri"/>
              <a:cs typeface="Calibri"/>
            </a:endParaRPr>
          </a:p>
          <a:p>
            <a:pPr marL="228600" marR="3011170" indent="-228600" algn="r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28600" algn="l"/>
              </a:tabLst>
            </a:pPr>
            <a:r>
              <a:rPr sz="1200" b="1" spc="75" dirty="0">
                <a:solidFill>
                  <a:srgbClr val="252525"/>
                </a:solidFill>
                <a:latin typeface="Calibri"/>
                <a:cs typeface="Calibri"/>
              </a:rPr>
              <a:t>Demographics</a:t>
            </a:r>
            <a:r>
              <a:rPr sz="1200" b="1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endParaRPr sz="12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698500" algn="l"/>
              </a:tabLst>
            </a:pP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Respondents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are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diverse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country,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age,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education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level.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0010" y="4868036"/>
            <a:ext cx="4565015" cy="464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22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preferences</a:t>
            </a:r>
            <a:r>
              <a:rPr sz="12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vary</a:t>
            </a:r>
            <a:r>
              <a:rPr sz="12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by</a:t>
            </a:r>
            <a:r>
              <a:rPr sz="12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demographics,</a:t>
            </a:r>
            <a:r>
              <a:rPr sz="1200" spc="2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younger</a:t>
            </a:r>
            <a:endParaRPr sz="1200">
              <a:latin typeface="Calibri"/>
              <a:cs typeface="Calibri"/>
            </a:endParaRPr>
          </a:p>
          <a:p>
            <a:pPr marL="241300" marR="6350">
              <a:lnSpc>
                <a:spcPct val="70000"/>
              </a:lnSpc>
              <a:spcBef>
                <a:spcPts val="215"/>
              </a:spcBef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200" spc="2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often</a:t>
            </a:r>
            <a:r>
              <a:rPr sz="1200" spc="2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dirty="0">
                <a:solidFill>
                  <a:srgbClr val="252525"/>
                </a:solidFill>
                <a:latin typeface="Calibri"/>
                <a:cs typeface="Calibri"/>
              </a:rPr>
              <a:t>favoring</a:t>
            </a:r>
            <a:r>
              <a:rPr sz="1200" spc="27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modern</a:t>
            </a:r>
            <a:r>
              <a:rPr sz="1200" spc="27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frameworks</a:t>
            </a:r>
            <a:r>
              <a:rPr sz="1200" spc="27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26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252525"/>
                </a:solidFill>
                <a:latin typeface="Calibri"/>
                <a:cs typeface="Calibri"/>
              </a:rPr>
              <a:t>new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databases.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828" y="1788921"/>
            <a:ext cx="10979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Implications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1828" y="2377185"/>
            <a:ext cx="1677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60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 Planning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9029" y="2567685"/>
            <a:ext cx="43389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45" dirty="0">
                <a:solidFill>
                  <a:srgbClr val="252525"/>
                </a:solidFill>
                <a:latin typeface="Calibri"/>
                <a:cs typeface="Calibri"/>
              </a:rPr>
              <a:t>Organizations</a:t>
            </a:r>
            <a:r>
              <a:rPr sz="1200" spc="1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200" spc="1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align</a:t>
            </a:r>
            <a:r>
              <a:rPr sz="12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training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hiring</a:t>
            </a:r>
            <a:r>
              <a:rPr sz="12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both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37629" y="2695397"/>
            <a:ext cx="402780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maintain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competitive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1828" y="2750946"/>
            <a:ext cx="1762125" cy="537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675"/>
              </a:spcBef>
            </a:pP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workforce.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200" b="1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45" dirty="0">
                <a:solidFill>
                  <a:srgbClr val="252525"/>
                </a:solidFill>
                <a:latin typeface="Calibri"/>
                <a:cs typeface="Calibri"/>
              </a:rPr>
              <a:t>Adoption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9029" y="3270630"/>
            <a:ext cx="421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Emphasizing</a:t>
            </a:r>
            <a:r>
              <a:rPr sz="1200" spc="1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stable,</a:t>
            </a:r>
            <a:r>
              <a:rPr sz="12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proven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tools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ensures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reliability,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while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51828" y="3325494"/>
            <a:ext cx="4491990" cy="5378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675"/>
              </a:spcBef>
            </a:pP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monitoring</a:t>
            </a:r>
            <a:r>
              <a:rPr sz="1200" spc="1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200" spc="1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supports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innovation.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Targeted</a:t>
            </a:r>
            <a:r>
              <a:rPr sz="1200" b="1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65" dirty="0">
                <a:solidFill>
                  <a:srgbClr val="252525"/>
                </a:solidFill>
                <a:latin typeface="Calibri"/>
                <a:cs typeface="Calibri"/>
              </a:rPr>
              <a:t>Initiatives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09029" y="3845179"/>
            <a:ext cx="4382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</a:tabLst>
            </a:pP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Demographic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enable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tailored</a:t>
            </a:r>
            <a:r>
              <a:rPr sz="1200" spc="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programs</a:t>
            </a:r>
            <a:r>
              <a:rPr sz="12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3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51828" y="3900493"/>
            <a:ext cx="2277110" cy="5372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698500">
              <a:lnSpc>
                <a:spcPct val="100000"/>
              </a:lnSpc>
              <a:spcBef>
                <a:spcPts val="670"/>
              </a:spcBef>
            </a:pP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recruitment</a:t>
            </a:r>
            <a:r>
              <a:rPr sz="1200" spc="3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strategies.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0665" algn="l"/>
              </a:tabLst>
            </a:pPr>
            <a:r>
              <a:rPr sz="1200" b="1" spc="75" dirty="0">
                <a:solidFill>
                  <a:srgbClr val="252525"/>
                </a:solidFill>
                <a:latin typeface="Calibri"/>
                <a:cs typeface="Calibri"/>
              </a:rPr>
              <a:t>Strategic</a:t>
            </a:r>
            <a:r>
              <a:rPr sz="1200" b="1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b="1" spc="70" dirty="0">
                <a:solidFill>
                  <a:srgbClr val="252525"/>
                </a:solidFill>
                <a:latin typeface="Calibri"/>
                <a:cs typeface="Calibri"/>
              </a:rPr>
              <a:t>Decision-</a:t>
            </a:r>
            <a:r>
              <a:rPr sz="1200" b="1" spc="40" dirty="0">
                <a:solidFill>
                  <a:srgbClr val="252525"/>
                </a:solidFill>
                <a:latin typeface="Calibri"/>
                <a:cs typeface="Calibri"/>
              </a:rPr>
              <a:t>Making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09029" y="4419980"/>
            <a:ext cx="4390390" cy="3365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530"/>
              </a:spcBef>
              <a:buFont typeface="Arial"/>
              <a:buChar char="•"/>
              <a:tabLst>
                <a:tab pos="241300" algn="l"/>
              </a:tabLst>
            </a:pP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Balancing</a:t>
            </a:r>
            <a:r>
              <a:rPr sz="12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70" dirty="0">
                <a:solidFill>
                  <a:srgbClr val="252525"/>
                </a:solidFill>
                <a:latin typeface="Calibri"/>
                <a:cs typeface="Calibri"/>
              </a:rPr>
              <a:t>usage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future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5" dirty="0">
                <a:solidFill>
                  <a:srgbClr val="252525"/>
                </a:solidFill>
                <a:latin typeface="Calibri"/>
                <a:cs typeface="Calibri"/>
              </a:rPr>
              <a:t>trends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5" dirty="0">
                <a:solidFill>
                  <a:srgbClr val="252525"/>
                </a:solidFill>
                <a:latin typeface="Calibri"/>
                <a:cs typeface="Calibri"/>
              </a:rPr>
              <a:t>helps</a:t>
            </a:r>
            <a:r>
              <a:rPr sz="12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1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resource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allocation,</a:t>
            </a:r>
            <a:r>
              <a:rPr sz="1200" spc="10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project</a:t>
            </a:r>
            <a:r>
              <a:rPr sz="12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planning,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200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50" dirty="0">
                <a:solidFill>
                  <a:srgbClr val="252525"/>
                </a:solidFill>
                <a:latin typeface="Calibri"/>
                <a:cs typeface="Calibri"/>
              </a:rPr>
              <a:t>staying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60" dirty="0">
                <a:solidFill>
                  <a:srgbClr val="252525"/>
                </a:solidFill>
                <a:latin typeface="Calibri"/>
                <a:cs typeface="Calibri"/>
              </a:rPr>
              <a:t>ahead</a:t>
            </a:r>
            <a:r>
              <a:rPr sz="12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2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2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200" spc="4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37629" y="4676013"/>
            <a:ext cx="673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52525"/>
                </a:solidFill>
                <a:latin typeface="Calibri"/>
                <a:cs typeface="Calibri"/>
              </a:rPr>
              <a:t>adoption.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2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23561" y="1825497"/>
            <a:ext cx="6654165" cy="26930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38760" marR="5080" indent="-226060" algn="just">
              <a:lnSpc>
                <a:spcPts val="162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Developers</a:t>
            </a:r>
            <a:r>
              <a:rPr sz="1500" spc="1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rely</a:t>
            </a:r>
            <a:r>
              <a:rPr sz="15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on</a:t>
            </a:r>
            <a:r>
              <a:rPr sz="15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r>
              <a:rPr sz="15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core</a:t>
            </a:r>
            <a:r>
              <a:rPr sz="15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set</a:t>
            </a:r>
            <a:r>
              <a:rPr sz="1500" spc="1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500" spc="11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well-established</a:t>
            </a:r>
            <a:r>
              <a:rPr sz="1500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programming</a:t>
            </a:r>
            <a:r>
              <a:rPr sz="1500" spc="1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languages, 	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databases,</a:t>
            </a:r>
            <a:r>
              <a:rPr sz="1500" spc="10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platforms,</a:t>
            </a:r>
            <a:r>
              <a:rPr sz="1500" spc="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500" spc="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web</a:t>
            </a:r>
            <a:r>
              <a:rPr sz="1500" spc="9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frameworks,</a:t>
            </a:r>
            <a:r>
              <a:rPr sz="1500" spc="10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emphasizing</a:t>
            </a:r>
            <a:r>
              <a:rPr sz="1500" spc="9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stability</a:t>
            </a:r>
            <a:r>
              <a:rPr sz="1500" spc="10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and 	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efficiency</a:t>
            </a:r>
            <a:r>
              <a:rPr sz="15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500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current</a:t>
            </a:r>
            <a:r>
              <a:rPr sz="1500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45" dirty="0">
                <a:solidFill>
                  <a:srgbClr val="252525"/>
                </a:solidFill>
                <a:latin typeface="Calibri"/>
                <a:cs typeface="Calibri"/>
              </a:rPr>
              <a:t>work.</a:t>
            </a:r>
            <a:endParaRPr sz="1500">
              <a:latin typeface="Calibri"/>
              <a:cs typeface="Calibri"/>
            </a:endParaRPr>
          </a:p>
          <a:p>
            <a:pPr marL="238760" indent="-226060" algn="just">
              <a:lnSpc>
                <a:spcPts val="1710"/>
              </a:lnSpc>
              <a:spcBef>
                <a:spcPts val="800"/>
              </a:spcBef>
              <a:buFont typeface="Arial"/>
              <a:buChar char="•"/>
              <a:tabLst>
                <a:tab pos="238760" algn="l"/>
              </a:tabLst>
            </a:pP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There</a:t>
            </a:r>
            <a:r>
              <a:rPr sz="15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is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strong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45" dirty="0">
                <a:solidFill>
                  <a:srgbClr val="252525"/>
                </a:solidFill>
                <a:latin typeface="Calibri"/>
                <a:cs typeface="Calibri"/>
              </a:rPr>
              <a:t>interest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in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learning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new</a:t>
            </a:r>
            <a:r>
              <a:rPr sz="1500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next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year,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reflecting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35" dirty="0">
                <a:solidFill>
                  <a:srgbClr val="252525"/>
                </a:solidFill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  <a:p>
            <a:pPr marL="241300" algn="just">
              <a:lnSpc>
                <a:spcPts val="1710"/>
              </a:lnSpc>
            </a:pP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willingness</a:t>
            </a:r>
            <a:r>
              <a:rPr sz="15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5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adapt</a:t>
            </a:r>
            <a:r>
              <a:rPr sz="15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500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80" dirty="0">
                <a:solidFill>
                  <a:srgbClr val="252525"/>
                </a:solidFill>
                <a:latin typeface="Calibri"/>
                <a:cs typeface="Calibri"/>
              </a:rPr>
              <a:t>expand</a:t>
            </a:r>
            <a:r>
              <a:rPr sz="15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252525"/>
                </a:solidFill>
                <a:latin typeface="Calibri"/>
                <a:cs typeface="Calibri"/>
              </a:rPr>
              <a:t>skills</a:t>
            </a:r>
            <a:r>
              <a:rPr sz="15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alongside</a:t>
            </a:r>
            <a:r>
              <a:rPr sz="1500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industry</a:t>
            </a:r>
            <a:r>
              <a:rPr sz="15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trends.</a:t>
            </a:r>
            <a:endParaRPr sz="1500">
              <a:latin typeface="Calibri"/>
              <a:cs typeface="Calibri"/>
            </a:endParaRPr>
          </a:p>
          <a:p>
            <a:pPr marL="238760" marR="5080" indent="-226060" algn="just">
              <a:lnSpc>
                <a:spcPts val="16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Demographic</a:t>
            </a:r>
            <a:r>
              <a:rPr sz="1500" spc="1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factors</a:t>
            </a:r>
            <a:r>
              <a:rPr sz="1500" spc="17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90" dirty="0">
                <a:solidFill>
                  <a:srgbClr val="252525"/>
                </a:solidFill>
                <a:latin typeface="Calibri"/>
                <a:cs typeface="Calibri"/>
              </a:rPr>
              <a:t>such</a:t>
            </a:r>
            <a:r>
              <a:rPr sz="15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105" dirty="0">
                <a:solidFill>
                  <a:srgbClr val="252525"/>
                </a:solidFill>
                <a:latin typeface="Calibri"/>
                <a:cs typeface="Calibri"/>
              </a:rPr>
              <a:t>as</a:t>
            </a:r>
            <a:r>
              <a:rPr sz="1500" spc="180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age,</a:t>
            </a:r>
            <a:r>
              <a:rPr sz="15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country,</a:t>
            </a:r>
            <a:r>
              <a:rPr sz="15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5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education</a:t>
            </a:r>
            <a:r>
              <a:rPr sz="1500" spc="185" dirty="0">
                <a:solidFill>
                  <a:srgbClr val="252525"/>
                </a:solidFill>
                <a:latin typeface="Calibri"/>
                <a:cs typeface="Calibri"/>
              </a:rPr>
              <a:t>  </a:t>
            </a:r>
            <a:r>
              <a:rPr sz="1500" spc="45" dirty="0">
                <a:solidFill>
                  <a:srgbClr val="252525"/>
                </a:solidFill>
                <a:latin typeface="Calibri"/>
                <a:cs typeface="Calibri"/>
              </a:rPr>
              <a:t>influence 	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technology</a:t>
            </a:r>
            <a:r>
              <a:rPr sz="1500" spc="4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preferences,</a:t>
            </a:r>
            <a:r>
              <a:rPr sz="1500" spc="4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highlighting</a:t>
            </a:r>
            <a:r>
              <a:rPr sz="15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5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importance</a:t>
            </a:r>
            <a:r>
              <a:rPr sz="1500" spc="4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500" spc="4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tailored</a:t>
            </a:r>
            <a:r>
              <a:rPr sz="1500" spc="48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Calibri"/>
                <a:cs typeface="Calibri"/>
              </a:rPr>
              <a:t>training 	</a:t>
            </a:r>
            <a:r>
              <a:rPr sz="1500" spc="75" dirty="0">
                <a:solidFill>
                  <a:srgbClr val="252525"/>
                </a:solidFill>
                <a:latin typeface="Calibri"/>
                <a:cs typeface="Calibri"/>
              </a:rPr>
              <a:t>and</a:t>
            </a:r>
            <a:r>
              <a:rPr sz="15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recruitment</a:t>
            </a:r>
            <a:r>
              <a:rPr sz="1500" spc="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strategies.</a:t>
            </a:r>
            <a:endParaRPr sz="1500">
              <a:latin typeface="Calibri"/>
              <a:cs typeface="Calibri"/>
            </a:endParaRPr>
          </a:p>
          <a:p>
            <a:pPr marL="238760" marR="5715" indent="-226060" algn="just">
              <a:lnSpc>
                <a:spcPts val="162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Organizations</a:t>
            </a:r>
            <a:r>
              <a:rPr sz="1500" spc="2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85" dirty="0">
                <a:solidFill>
                  <a:srgbClr val="252525"/>
                </a:solidFill>
                <a:latin typeface="Calibri"/>
                <a:cs typeface="Calibri"/>
              </a:rPr>
              <a:t>can</a:t>
            </a:r>
            <a:r>
              <a:rPr sz="1500" spc="2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leverage</a:t>
            </a:r>
            <a:r>
              <a:rPr sz="1500" spc="2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these</a:t>
            </a:r>
            <a:r>
              <a:rPr sz="15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insights</a:t>
            </a:r>
            <a:r>
              <a:rPr sz="15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500" spc="2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70" dirty="0">
                <a:solidFill>
                  <a:srgbClr val="252525"/>
                </a:solidFill>
                <a:latin typeface="Calibri"/>
                <a:cs typeface="Calibri"/>
              </a:rPr>
              <a:t>balance</a:t>
            </a:r>
            <a:r>
              <a:rPr sz="15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adoption</a:t>
            </a:r>
            <a:r>
              <a:rPr sz="1500" spc="2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1500" spc="29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40" dirty="0">
                <a:solidFill>
                  <a:srgbClr val="252525"/>
                </a:solidFill>
                <a:latin typeface="Calibri"/>
                <a:cs typeface="Calibri"/>
              </a:rPr>
              <a:t>proven 	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5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52525"/>
                </a:solidFill>
                <a:latin typeface="Calibri"/>
                <a:cs typeface="Calibri"/>
              </a:rPr>
              <a:t>with</a:t>
            </a:r>
            <a:r>
              <a:rPr sz="15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emerging</a:t>
            </a:r>
            <a:r>
              <a:rPr sz="1500" spc="3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tools,</a:t>
            </a:r>
            <a:r>
              <a:rPr sz="15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252525"/>
                </a:solidFill>
                <a:latin typeface="Calibri"/>
                <a:cs typeface="Calibri"/>
              </a:rPr>
              <a:t>optimize</a:t>
            </a:r>
            <a:r>
              <a:rPr sz="1500" spc="3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workforce</a:t>
            </a:r>
            <a:r>
              <a:rPr sz="1500" spc="3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development,</a:t>
            </a:r>
            <a:r>
              <a:rPr sz="1500" spc="3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and 	</a:t>
            </a:r>
            <a:r>
              <a:rPr sz="1500" spc="90" dirty="0">
                <a:solidFill>
                  <a:srgbClr val="252525"/>
                </a:solidFill>
                <a:latin typeface="Calibri"/>
                <a:cs typeface="Calibri"/>
              </a:rPr>
              <a:t>make</a:t>
            </a:r>
            <a:r>
              <a:rPr sz="15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252525"/>
                </a:solidFill>
                <a:latin typeface="Calibri"/>
                <a:cs typeface="Calibri"/>
              </a:rPr>
              <a:t>informed</a:t>
            </a:r>
            <a:r>
              <a:rPr sz="15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Calibri"/>
                <a:cs typeface="Calibri"/>
              </a:rPr>
              <a:t>strategic</a:t>
            </a:r>
            <a:r>
              <a:rPr sz="1500" spc="-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500" spc="60" dirty="0">
                <a:solidFill>
                  <a:srgbClr val="252525"/>
                </a:solidFill>
                <a:latin typeface="Calibri"/>
                <a:cs typeface="Calibri"/>
              </a:rPr>
              <a:t>decisions.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969" y="2113914"/>
            <a:ext cx="3054350" cy="3054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pc="37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852" y="1849882"/>
            <a:ext cx="3194558" cy="31945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474970" indent="194945">
              <a:lnSpc>
                <a:spcPts val="1420"/>
              </a:lnSpc>
              <a:spcBef>
                <a:spcPts val="160"/>
              </a:spcBef>
              <a:buAutoNum type="alphaUcPeriod"/>
              <a:tabLst>
                <a:tab pos="207645" algn="l"/>
              </a:tabLst>
            </a:pP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Source</a:t>
            </a:r>
            <a:r>
              <a:rPr spc="500" dirty="0"/>
              <a:t> </a:t>
            </a:r>
            <a:r>
              <a:rPr dirty="0"/>
              <a:t>Dataset:</a:t>
            </a:r>
            <a:r>
              <a:rPr spc="-35" dirty="0"/>
              <a:t> </a:t>
            </a:r>
            <a:r>
              <a:rPr b="0" spc="-10" dirty="0">
                <a:latin typeface="Arial"/>
                <a:cs typeface="Arial"/>
              </a:rPr>
              <a:t>survey-data.csv</a:t>
            </a:r>
          </a:p>
          <a:p>
            <a:pPr marL="12700">
              <a:lnSpc>
                <a:spcPts val="1415"/>
              </a:lnSpc>
            </a:pPr>
            <a:r>
              <a:rPr dirty="0"/>
              <a:t>Respondents:</a:t>
            </a:r>
            <a:r>
              <a:rPr spc="-30" dirty="0"/>
              <a:t> </a:t>
            </a:r>
            <a:r>
              <a:rPr b="0" dirty="0">
                <a:latin typeface="Arial"/>
                <a:cs typeface="Arial"/>
              </a:rPr>
              <a:t>Global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developers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from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diverse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countries,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ages,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and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education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levels</a:t>
            </a:r>
          </a:p>
          <a:p>
            <a:pPr marL="12700">
              <a:lnSpc>
                <a:spcPts val="1430"/>
              </a:lnSpc>
            </a:pPr>
            <a:r>
              <a:rPr dirty="0"/>
              <a:t>Columns</a:t>
            </a:r>
            <a:r>
              <a:rPr spc="-60" dirty="0"/>
              <a:t> </a:t>
            </a:r>
            <a:r>
              <a:rPr spc="-20" dirty="0"/>
              <a:t>Used:</a:t>
            </a:r>
          </a:p>
          <a:p>
            <a:pPr marL="469900" marR="5080">
              <a:lnSpc>
                <a:spcPts val="1440"/>
              </a:lnSpc>
              <a:spcBef>
                <a:spcPts val="40"/>
              </a:spcBef>
            </a:pPr>
            <a:r>
              <a:rPr b="0" dirty="0">
                <a:latin typeface="Arial"/>
                <a:cs typeface="Arial"/>
              </a:rPr>
              <a:t>Current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Usage: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LanguageHaveWorkedWith</a:t>
            </a:r>
            <a:r>
              <a:rPr b="0" spc="-10" dirty="0">
                <a:latin typeface="Calibri"/>
                <a:cs typeface="Calibri"/>
              </a:rPr>
              <a:t>,</a:t>
            </a:r>
            <a:r>
              <a:rPr b="0" spc="45" dirty="0">
                <a:latin typeface="Calibri"/>
                <a:cs typeface="Calibri"/>
              </a:rPr>
              <a:t> </a:t>
            </a:r>
            <a:r>
              <a:rPr b="0" dirty="0">
                <a:latin typeface="Arial"/>
                <a:cs typeface="Arial"/>
              </a:rPr>
              <a:t>DatabaseHaveWorkedWith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55" dirty="0">
                <a:latin typeface="Calibri"/>
                <a:cs typeface="Calibri"/>
              </a:rPr>
              <a:t> </a:t>
            </a:r>
            <a:r>
              <a:rPr b="0" spc="-10" dirty="0">
                <a:latin typeface="Arial"/>
                <a:cs typeface="Arial"/>
              </a:rPr>
              <a:t>PlatformHaveWorkedWith</a:t>
            </a:r>
            <a:r>
              <a:rPr b="0" spc="-10" dirty="0">
                <a:latin typeface="Calibri"/>
                <a:cs typeface="Calibri"/>
              </a:rPr>
              <a:t>, </a:t>
            </a:r>
            <a:r>
              <a:rPr b="0" spc="-10" dirty="0">
                <a:latin typeface="Arial"/>
                <a:cs typeface="Arial"/>
              </a:rPr>
              <a:t>WebframeHaveWorkedWith</a:t>
            </a:r>
          </a:p>
          <a:p>
            <a:pPr marL="469900" marR="5080">
              <a:lnSpc>
                <a:spcPts val="1440"/>
              </a:lnSpc>
            </a:pPr>
            <a:r>
              <a:rPr b="0" dirty="0">
                <a:latin typeface="Arial"/>
                <a:cs typeface="Arial"/>
              </a:rPr>
              <a:t>Future</a:t>
            </a:r>
            <a:r>
              <a:rPr b="0" spc="9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Trends:</a:t>
            </a:r>
            <a:r>
              <a:rPr b="0" spc="9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LanguageWantToWorkWith</a:t>
            </a:r>
            <a:r>
              <a:rPr b="0" spc="-10" dirty="0">
                <a:latin typeface="Calibri"/>
                <a:cs typeface="Calibri"/>
              </a:rPr>
              <a:t>,</a:t>
            </a:r>
            <a:r>
              <a:rPr b="0" spc="160" dirty="0">
                <a:latin typeface="Calibri"/>
                <a:cs typeface="Calibri"/>
              </a:rPr>
              <a:t> </a:t>
            </a:r>
            <a:r>
              <a:rPr b="0" spc="-10" dirty="0">
                <a:latin typeface="Arial"/>
                <a:cs typeface="Arial"/>
              </a:rPr>
              <a:t>DatabaseWantToWorkWith</a:t>
            </a:r>
            <a:r>
              <a:rPr b="0" spc="-10" dirty="0">
                <a:latin typeface="Calibri"/>
                <a:cs typeface="Calibri"/>
              </a:rPr>
              <a:t>,</a:t>
            </a:r>
            <a:r>
              <a:rPr b="0" spc="160" dirty="0">
                <a:latin typeface="Calibri"/>
                <a:cs typeface="Calibri"/>
              </a:rPr>
              <a:t> </a:t>
            </a:r>
            <a:r>
              <a:rPr b="0" spc="-10" dirty="0">
                <a:latin typeface="Arial"/>
                <a:cs typeface="Arial"/>
              </a:rPr>
              <a:t>PlatformWantToWorkWith</a:t>
            </a:r>
            <a:r>
              <a:rPr b="0" spc="-10" dirty="0">
                <a:latin typeface="Calibri"/>
                <a:cs typeface="Calibri"/>
              </a:rPr>
              <a:t>, </a:t>
            </a:r>
            <a:r>
              <a:rPr b="0" spc="-10" dirty="0">
                <a:latin typeface="Arial"/>
                <a:cs typeface="Arial"/>
              </a:rPr>
              <a:t>WebframeWantToWorkWith</a:t>
            </a:r>
          </a:p>
          <a:p>
            <a:pPr marL="469900">
              <a:lnSpc>
                <a:spcPts val="1390"/>
              </a:lnSpc>
            </a:pPr>
            <a:r>
              <a:rPr b="0" dirty="0">
                <a:latin typeface="Arial"/>
                <a:cs typeface="Arial"/>
              </a:rPr>
              <a:t>Demographics: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Country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dirty="0">
                <a:latin typeface="Arial"/>
                <a:cs typeface="Arial"/>
              </a:rPr>
              <a:t>Age</a:t>
            </a:r>
            <a:r>
              <a:rPr b="0" dirty="0">
                <a:latin typeface="Calibri"/>
                <a:cs typeface="Calibri"/>
              </a:rPr>
              <a:t>,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spc="-10" dirty="0">
                <a:latin typeface="Arial"/>
                <a:cs typeface="Arial"/>
              </a:rPr>
              <a:t>EdLevel</a:t>
            </a:r>
          </a:p>
          <a:p>
            <a:pPr marL="207645" indent="-194945">
              <a:lnSpc>
                <a:spcPct val="100000"/>
              </a:lnSpc>
              <a:spcBef>
                <a:spcPts val="25"/>
              </a:spcBef>
              <a:buAutoNum type="alphaUcPeriod" startAt="2"/>
              <a:tabLst>
                <a:tab pos="207645" algn="l"/>
              </a:tabLst>
            </a:pP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Processing</a:t>
            </a:r>
          </a:p>
          <a:p>
            <a:pPr marL="12700" marR="2719705">
              <a:lnSpc>
                <a:spcPct val="100000"/>
              </a:lnSpc>
            </a:pPr>
            <a:r>
              <a:rPr b="0" dirty="0">
                <a:latin typeface="Arial"/>
                <a:cs typeface="Arial"/>
              </a:rPr>
              <a:t>Split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multi-</a:t>
            </a:r>
            <a:r>
              <a:rPr b="0" dirty="0">
                <a:latin typeface="Arial"/>
                <a:cs typeface="Arial"/>
              </a:rPr>
              <a:t>select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columns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into</a:t>
            </a:r>
            <a:r>
              <a:rPr b="0" spc="-1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separate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rows;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cleaned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whitespace. </a:t>
            </a:r>
            <a:r>
              <a:rPr b="0" dirty="0">
                <a:latin typeface="Arial"/>
                <a:cs typeface="Arial"/>
              </a:rPr>
              <a:t>Dropped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or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marked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missing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values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as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“Unknown.”</a:t>
            </a:r>
          </a:p>
          <a:p>
            <a:pPr marL="12700">
              <a:lnSpc>
                <a:spcPts val="1415"/>
              </a:lnSpc>
            </a:pPr>
            <a:r>
              <a:rPr b="0" dirty="0">
                <a:latin typeface="Arial"/>
                <a:cs typeface="Arial"/>
              </a:rPr>
              <a:t>Metrics</a:t>
            </a:r>
            <a:r>
              <a:rPr b="0" spc="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use</a:t>
            </a:r>
            <a:r>
              <a:rPr b="0" spc="4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COUNT_DISTINCT(RespondentID)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40" dirty="0">
                <a:latin typeface="Calibri"/>
                <a:cs typeface="Calibri"/>
              </a:rPr>
              <a:t> </a:t>
            </a:r>
            <a:r>
              <a:rPr b="0" spc="50" dirty="0">
                <a:latin typeface="Calibri"/>
                <a:cs typeface="Calibri"/>
              </a:rPr>
              <a:t>unique</a:t>
            </a:r>
            <a:r>
              <a:rPr b="0" spc="85" dirty="0">
                <a:latin typeface="Calibri"/>
                <a:cs typeface="Calibri"/>
              </a:rPr>
              <a:t> </a:t>
            </a:r>
            <a:r>
              <a:rPr b="0" spc="45" dirty="0">
                <a:latin typeface="Calibri"/>
                <a:cs typeface="Calibri"/>
              </a:rPr>
              <a:t>counts.</a:t>
            </a:r>
          </a:p>
          <a:p>
            <a:pPr marL="12700" marR="5727700" indent="194945">
              <a:lnSpc>
                <a:spcPct val="100000"/>
              </a:lnSpc>
              <a:spcBef>
                <a:spcPts val="25"/>
              </a:spcBef>
              <a:buAutoNum type="alphaUcPeriod" startAt="3"/>
              <a:tabLst>
                <a:tab pos="207645" algn="l"/>
              </a:tabLst>
            </a:pPr>
            <a:r>
              <a:rPr dirty="0"/>
              <a:t>Dashboard</a:t>
            </a:r>
            <a:r>
              <a:rPr spc="-60" dirty="0"/>
              <a:t> </a:t>
            </a:r>
            <a:r>
              <a:rPr spc="-20" dirty="0"/>
              <a:t>Notes </a:t>
            </a:r>
            <a:r>
              <a:rPr spc="-10" dirty="0"/>
              <a:t>Tools:</a:t>
            </a:r>
            <a:r>
              <a:rPr spc="-40" dirty="0"/>
              <a:t> </a:t>
            </a:r>
            <a:r>
              <a:rPr b="0" dirty="0">
                <a:latin typeface="Arial"/>
                <a:cs typeface="Arial"/>
              </a:rPr>
              <a:t>Looker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Studio</a:t>
            </a:r>
          </a:p>
          <a:p>
            <a:pPr marL="12700" marR="6350">
              <a:lnSpc>
                <a:spcPct val="100000"/>
              </a:lnSpc>
            </a:pPr>
            <a:r>
              <a:rPr dirty="0"/>
              <a:t>Charts:</a:t>
            </a:r>
            <a:r>
              <a:rPr spc="85" dirty="0"/>
              <a:t>  </a:t>
            </a:r>
            <a:r>
              <a:rPr b="0" dirty="0">
                <a:latin typeface="Arial"/>
                <a:cs typeface="Arial"/>
              </a:rPr>
              <a:t>Bar</a:t>
            </a:r>
            <a:r>
              <a:rPr b="0" spc="80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(top</a:t>
            </a:r>
            <a:r>
              <a:rPr b="0" spc="90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languages,</a:t>
            </a:r>
            <a:r>
              <a:rPr b="0" spc="49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databases,</a:t>
            </a:r>
            <a:r>
              <a:rPr b="0" spc="80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frameworks),</a:t>
            </a:r>
            <a:r>
              <a:rPr b="0" spc="90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Pie/Donut</a:t>
            </a:r>
            <a:r>
              <a:rPr b="0" spc="90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(platforms),</a:t>
            </a:r>
            <a:r>
              <a:rPr b="0" spc="48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Waterfall</a:t>
            </a:r>
            <a:r>
              <a:rPr b="0" spc="85" dirty="0">
                <a:latin typeface="Arial"/>
                <a:cs typeface="Arial"/>
              </a:rPr>
              <a:t>  </a:t>
            </a:r>
            <a:r>
              <a:rPr b="0" dirty="0">
                <a:latin typeface="Arial"/>
                <a:cs typeface="Arial"/>
              </a:rPr>
              <a:t>(age),</a:t>
            </a:r>
            <a:r>
              <a:rPr b="0" spc="85" dirty="0">
                <a:latin typeface="Arial"/>
                <a:cs typeface="Arial"/>
              </a:rPr>
              <a:t>  </a:t>
            </a:r>
            <a:r>
              <a:rPr b="0" spc="-25" dirty="0">
                <a:latin typeface="Arial"/>
                <a:cs typeface="Arial"/>
              </a:rPr>
              <a:t>Bar </a:t>
            </a:r>
            <a:r>
              <a:rPr b="0" spc="-10" dirty="0">
                <a:latin typeface="Arial"/>
                <a:cs typeface="Arial"/>
              </a:rPr>
              <a:t>(countries)</a:t>
            </a:r>
          </a:p>
          <a:p>
            <a:pPr marL="12700">
              <a:lnSpc>
                <a:spcPct val="100000"/>
              </a:lnSpc>
            </a:pPr>
            <a:r>
              <a:rPr dirty="0"/>
              <a:t>Slider/Dropdown:</a:t>
            </a:r>
            <a:r>
              <a:rPr spc="-35" dirty="0"/>
              <a:t> </a:t>
            </a:r>
            <a:r>
              <a:rPr b="0" spc="-20" dirty="0">
                <a:latin typeface="Arial"/>
                <a:cs typeface="Arial"/>
              </a:rPr>
              <a:t>Country,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Age,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Education</a:t>
            </a:r>
            <a:r>
              <a:rPr b="0" spc="-5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Level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for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interactive</a:t>
            </a:r>
            <a:r>
              <a:rPr b="0" spc="-10" dirty="0">
                <a:latin typeface="Arial"/>
                <a:cs typeface="Arial"/>
              </a:rPr>
              <a:t> analysis</a:t>
            </a:r>
          </a:p>
          <a:p>
            <a:pPr marL="207645" indent="-194945">
              <a:lnSpc>
                <a:spcPct val="100000"/>
              </a:lnSpc>
              <a:buAutoNum type="alphaUcPeriod" startAt="4"/>
              <a:tabLst>
                <a:tab pos="207645" algn="l"/>
              </a:tabLst>
            </a:pPr>
            <a:r>
              <a:rPr spc="-10" dirty="0"/>
              <a:t>Limitations</a:t>
            </a:r>
          </a:p>
          <a:p>
            <a:pPr marL="12700">
              <a:lnSpc>
                <a:spcPct val="100000"/>
              </a:lnSpc>
            </a:pPr>
            <a:r>
              <a:rPr b="0" spc="-10" dirty="0">
                <a:latin typeface="Arial"/>
                <a:cs typeface="Arial"/>
              </a:rPr>
              <a:t>Multi-</a:t>
            </a:r>
            <a:r>
              <a:rPr b="0" dirty="0">
                <a:latin typeface="Arial"/>
                <a:cs typeface="Arial"/>
              </a:rPr>
              <a:t>select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splitting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may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slightly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inflate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counts.</a:t>
            </a:r>
          </a:p>
          <a:p>
            <a:pPr marL="12700">
              <a:lnSpc>
                <a:spcPts val="1435"/>
              </a:lnSpc>
            </a:pPr>
            <a:r>
              <a:rPr b="0" dirty="0">
                <a:latin typeface="Arial"/>
                <a:cs typeface="Arial"/>
              </a:rPr>
              <a:t>Survey</a:t>
            </a:r>
            <a:r>
              <a:rPr b="0" spc="-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may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not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fully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represent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all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developers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globally.</a:t>
            </a:r>
          </a:p>
          <a:p>
            <a:pPr marL="12700">
              <a:lnSpc>
                <a:spcPts val="2155"/>
              </a:lnSpc>
            </a:pPr>
            <a:r>
              <a:rPr b="0" dirty="0">
                <a:latin typeface="Arial"/>
                <a:cs typeface="Arial"/>
              </a:rPr>
              <a:t>Insights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reflect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trends</a:t>
            </a:r>
            <a:r>
              <a:rPr b="0" spc="-3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within</a:t>
            </a:r>
            <a:r>
              <a:rPr b="0" spc="-3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the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respondent</a:t>
            </a:r>
            <a:r>
              <a:rPr b="0" spc="-4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group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only</a:t>
            </a:r>
            <a:r>
              <a:rPr sz="1800" b="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364233"/>
            <a:ext cx="10515600" cy="635"/>
          </a:xfrm>
          <a:custGeom>
            <a:avLst/>
            <a:gdLst/>
            <a:ahLst/>
            <a:cxnLst/>
            <a:rect l="l" t="t" r="r" b="b"/>
            <a:pathLst>
              <a:path w="10515600" h="634">
                <a:moveTo>
                  <a:pt x="0" y="0"/>
                </a:moveTo>
                <a:lnTo>
                  <a:pt x="10515600" y="380"/>
                </a:lnTo>
              </a:path>
            </a:pathLst>
          </a:custGeom>
          <a:ln w="6350">
            <a:solidFill>
              <a:srgbClr val="6C4D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317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95"/>
              </a:spcBef>
            </a:pPr>
            <a:r>
              <a:rPr spc="455" dirty="0"/>
              <a:t>JOB</a:t>
            </a:r>
            <a:r>
              <a:rPr spc="55" dirty="0"/>
              <a:t> </a:t>
            </a:r>
            <a:r>
              <a:rPr spc="375" dirty="0"/>
              <a:t>POSTINGS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08455"/>
            <a:ext cx="8295005" cy="45984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98660" y="1880362"/>
            <a:ext cx="243332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75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resulting</a:t>
            </a:r>
            <a:r>
              <a:rPr sz="1400" spc="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bar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chart</a:t>
            </a:r>
            <a:r>
              <a:rPr sz="1400" spc="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30" dirty="0">
                <a:solidFill>
                  <a:srgbClr val="252525"/>
                </a:solidFill>
                <a:latin typeface="Calibri"/>
                <a:cs typeface="Calibri"/>
              </a:rPr>
              <a:t>will </a:t>
            </a:r>
            <a:r>
              <a:rPr sz="1400" spc="65" dirty="0">
                <a:solidFill>
                  <a:srgbClr val="252525"/>
                </a:solidFill>
                <a:latin typeface="Calibri"/>
                <a:cs typeface="Calibri"/>
              </a:rPr>
              <a:t>clearly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show</a:t>
            </a:r>
            <a:r>
              <a:rPr sz="1400" spc="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252525"/>
                </a:solidFill>
                <a:latin typeface="Calibri"/>
                <a:cs typeface="Calibri"/>
              </a:rPr>
              <a:t>which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technologies</a:t>
            </a:r>
            <a:r>
              <a:rPr sz="1400" spc="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have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b="1" spc="75" dirty="0">
                <a:solidFill>
                  <a:srgbClr val="252525"/>
                </a:solidFill>
                <a:latin typeface="Calibri"/>
                <a:cs typeface="Calibri"/>
              </a:rPr>
              <a:t>highest </a:t>
            </a:r>
            <a:r>
              <a:rPr sz="1400" b="1" spc="95" dirty="0">
                <a:solidFill>
                  <a:srgbClr val="252525"/>
                </a:solidFill>
                <a:latin typeface="Calibri"/>
                <a:cs typeface="Calibri"/>
              </a:rPr>
              <a:t>demand</a:t>
            </a:r>
            <a:r>
              <a:rPr sz="1400" b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252525"/>
                </a:solidFill>
                <a:latin typeface="Calibri"/>
                <a:cs typeface="Calibri"/>
              </a:rPr>
              <a:t>according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to</a:t>
            </a:r>
            <a:r>
              <a:rPr sz="1400" spc="5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52525"/>
                </a:solidFill>
                <a:latin typeface="Calibri"/>
                <a:cs typeface="Calibri"/>
              </a:rPr>
              <a:t>the</a:t>
            </a:r>
            <a:r>
              <a:rPr sz="1400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1400" spc="110" dirty="0">
                <a:solidFill>
                  <a:srgbClr val="252525"/>
                </a:solidFill>
                <a:latin typeface="Calibri"/>
                <a:cs typeface="Calibri"/>
              </a:rPr>
              <a:t>API </a:t>
            </a:r>
            <a:r>
              <a:rPr sz="1400" spc="-10" dirty="0">
                <a:solidFill>
                  <a:srgbClr val="252525"/>
                </a:solidFill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1680</Words>
  <Application>Microsoft Office PowerPoint</Application>
  <PresentationFormat>Widescreen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Data Analyst Presentation</vt:lpstr>
      <vt:lpstr>OUTLINE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JOB POSTINGS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Tori Sleeper</dc:creator>
  <cp:lastModifiedBy>Joanne Hatcher</cp:lastModifiedBy>
  <cp:revision>36</cp:revision>
  <dcterms:created xsi:type="dcterms:W3CDTF">2026-10-01T04:07:41Z</dcterms:created>
  <dcterms:modified xsi:type="dcterms:W3CDTF">2026-10-03T04:48:03Z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2026-10-01T00:00:00Z</vt:filetime>
  </property>
  <property fmtid="{D5CDD505-2E9C-101B-9397-08002B2CF9AE}" pid="5" name="Producer">
    <vt:lpwstr>Microsoft® PowerPoint® 2021</vt:lpwstr>
  </property>
</Properties>
</file>